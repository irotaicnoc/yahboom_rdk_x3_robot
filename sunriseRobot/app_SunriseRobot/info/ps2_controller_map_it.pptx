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0" r:id="rId3"/>
    <p:sldId id="261" r:id="rId4"/>
    <p:sldId id="257" r:id="rId5"/>
    <p:sldId id="258" r:id="rId6"/>
    <p:sldId id="259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7D45A"/>
    <a:srgbClr val="AFF2D0"/>
    <a:srgbClr val="F14C60"/>
    <a:srgbClr val="BBDDF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0"/>
    <p:restoredTop sz="94660"/>
  </p:normalViewPr>
  <p:slideViewPr>
    <p:cSldViewPr snapToGrid="0">
      <p:cViewPr varScale="1">
        <p:scale>
          <a:sx n="112" d="100"/>
          <a:sy n="112" d="100"/>
        </p:scale>
        <p:origin x="516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EDD1C5-450D-0569-BBF8-8A0FA0C0DF4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1E9C43E-FCE4-781E-E676-6114FD1C838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E65C20-5248-C746-1239-C0794793F2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B78028-44F6-416E-B0AB-FAA3EA91683A}" type="datetimeFigureOut">
              <a:rPr lang="en-US" smtClean="0"/>
              <a:t>7/19/2026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5B726D-AB14-1E86-EF9F-8B8DC62F04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5694FB-D87A-C007-B34A-F42F00A2ED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2EEB30-6363-497E-821C-4234D1133B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08644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E63F7C-4B7A-92BE-CC31-48FD58DFAE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FC4C42-C47A-8E90-9DA6-49CD3F2EC9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82B850F-7ABF-B2EB-5BA1-1FA8EDE96D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B78028-44F6-416E-B0AB-FAA3EA91683A}" type="datetimeFigureOut">
              <a:rPr lang="en-US" smtClean="0"/>
              <a:t>7/19/2026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02F4F1-4F98-8626-BEF8-23F7A7346E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76E388-2A71-B6EB-69D8-4251C7B3B3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2EEB30-6363-497E-821C-4234D1133B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64728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6E6A0C-8B03-CCCD-1BE9-BA6A492157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0F1FAC3-2756-7A7F-1A02-F557BD27A55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069B17F-CFEF-6D19-F89D-2A3F07B85E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B78028-44F6-416E-B0AB-FAA3EA91683A}" type="datetimeFigureOut">
              <a:rPr lang="en-US" smtClean="0"/>
              <a:t>7/19/2026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E984C85-253C-67F6-5A77-111AD1868C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B68689-8F75-90A7-BF8C-BC8F9AC4FA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2EEB30-6363-497E-821C-4234D1133B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020583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F9A52A-1167-EBAB-AB3F-8EEDA4013E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8120E3-490E-3B58-6455-F456A12F991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747536E-3EEB-6563-AD09-4D346AF4508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926B965-B3E7-A631-A286-D3F1EFDD96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B78028-44F6-416E-B0AB-FAA3EA91683A}" type="datetimeFigureOut">
              <a:rPr lang="en-US" smtClean="0"/>
              <a:t>7/19/2026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26AFD73-1C2B-CFBC-CBFC-58226DFB2D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9A25FB7-1F94-18D5-2401-736F8F0278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2EEB30-6363-497E-821C-4234D1133B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768120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F484DB-6C48-7A98-A04F-392CF09539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EF26C66-EA19-5512-20AB-B4BB3879CC7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E59F72B-BF64-E723-724A-F962ACD411A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0988320-664E-BDFC-8FDC-5B38101F708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8C51965-FD5B-219E-9F0D-B9A7F52CE70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64FB158-9786-5040-AF88-FEE7F9E3E4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B78028-44F6-416E-B0AB-FAA3EA91683A}" type="datetimeFigureOut">
              <a:rPr lang="en-US" smtClean="0"/>
              <a:t>7/19/2026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50B7437-B793-30E3-3563-66C77C1B04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FBBD666-F286-E878-8F52-E55132AFD3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2EEB30-6363-497E-821C-4234D1133B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43529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2DFB72-512B-D01A-9D9B-9D8250D1E8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F9AF3A6-23CF-C4CB-5118-C553D6EF74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B78028-44F6-416E-B0AB-FAA3EA91683A}" type="datetimeFigureOut">
              <a:rPr lang="en-US" smtClean="0"/>
              <a:t>7/19/2026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A41F648-9DFE-052D-54B1-4421C7869F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785EDA2-A7B1-EE32-D69D-89930EAFD9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2EEB30-6363-497E-821C-4234D1133B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50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488680C-DC20-198A-4384-5762BD0EF9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B78028-44F6-416E-B0AB-FAA3EA91683A}" type="datetimeFigureOut">
              <a:rPr lang="en-US" smtClean="0"/>
              <a:t>7/19/2026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4015E55-26D0-C402-9A03-0CE0454364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C05291-23F1-37D6-5EBC-120A607C24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2EEB30-6363-497E-821C-4234D1133B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28488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295E8A-6174-B7DB-C647-94B3387F47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06A692-F9A2-D5AB-7987-E7F39EC9FE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F256469-0FA0-4E80-D6D1-02F040BD1F2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9D19AD0-D7E5-63BE-998B-36C2B68D57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B78028-44F6-416E-B0AB-FAA3EA91683A}" type="datetimeFigureOut">
              <a:rPr lang="en-US" smtClean="0"/>
              <a:t>7/19/2026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AE54594-8821-0603-121B-869E4315B8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3E162E9-C7DB-F8F5-911E-62A59ADDFB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2EEB30-6363-497E-821C-4234D1133B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72298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BBE7F4-9FA3-0DD1-F3CA-6369214910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7B6079A-609B-7020-C18B-164C51CDE4D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73E7586-A55A-BE63-6CF7-0E0B34BBED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CA6E671-5C93-C48F-36B8-CF55773885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B78028-44F6-416E-B0AB-FAA3EA91683A}" type="datetimeFigureOut">
              <a:rPr lang="en-US" smtClean="0"/>
              <a:t>7/19/2026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C35AB17-25D9-DEE5-B4FD-01E0ACEEB2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4DE99B7-3124-429E-E13F-59E1F58645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2EEB30-6363-497E-821C-4234D1133B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36648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89B74E-7160-C086-C99F-115B21589B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A58E373-DE2D-1708-9AD3-CC62E7B3660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268E4C2-3449-98A6-017E-DEE24FD54E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B78028-44F6-416E-B0AB-FAA3EA91683A}" type="datetimeFigureOut">
              <a:rPr lang="en-US" smtClean="0"/>
              <a:t>7/19/2026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34776FD-09AB-8CA6-B83A-E038A28370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9E64C2-80AF-51B5-AE43-75178BBB48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2EEB30-6363-497E-821C-4234D1133B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392957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601E4B9-7C7C-AF99-9D4B-533896B5287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589F9C0-C17A-D43D-BB18-E7DC62C676A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DC512E-175C-3449-2465-80266EF827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B78028-44F6-416E-B0AB-FAA3EA91683A}" type="datetimeFigureOut">
              <a:rPr lang="en-US" smtClean="0"/>
              <a:t>7/19/2026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7A4E80-EAAF-A8E8-25EC-1E63692FDE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DC1761-E0A6-0E85-3B96-D7BFE21C77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2EEB30-6363-497E-821C-4234D1133B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49320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C4425B4-4E65-FCF7-B3D1-C112F85515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08F6C04-B58B-28BB-00A3-31201CDEA3D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15E0770-4535-3850-E339-CF88641C6A6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0B78028-44F6-416E-B0AB-FAA3EA91683A}" type="datetimeFigureOut">
              <a:rPr lang="en-US" smtClean="0"/>
              <a:t>7/19/2026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AC0A96A-5E0A-9B41-9BFB-8C72CA8A1C6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2EC1EA0-6A79-0210-7438-D474748F0A3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D2EEB30-6363-497E-821C-4234D1133B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31640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OSTENT Cablato Analogico Controller Gamepad Joystick Joypad per Sony  Playstation PS2 PS1 PS One PSX Console Dual Shock Vibration Video Games :  ...">
            <a:extLst>
              <a:ext uri="{FF2B5EF4-FFF2-40B4-BE49-F238E27FC236}">
                <a16:creationId xmlns:a16="http://schemas.microsoft.com/office/drawing/2014/main" id="{9ECDAD56-80DE-915B-AD2D-8BFA1B7F23A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888" b="29584"/>
          <a:stretch/>
        </p:blipFill>
        <p:spPr bwMode="auto">
          <a:xfrm>
            <a:off x="2190750" y="1680553"/>
            <a:ext cx="6858000" cy="42881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8A797554-1CC4-FD42-DCFA-037EB3340E2E}"/>
              </a:ext>
            </a:extLst>
          </p:cNvPr>
          <p:cNvSpPr txBox="1"/>
          <p:nvPr/>
        </p:nvSpPr>
        <p:spPr>
          <a:xfrm>
            <a:off x="1590675" y="0"/>
            <a:ext cx="505862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2800" b="1" noProof="0" dirty="0"/>
              <a:t>Tasti validi in tutte le modalità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725755DA-455C-7703-DEFD-262835968764}"/>
              </a:ext>
            </a:extLst>
          </p:cNvPr>
          <p:cNvSpPr txBox="1"/>
          <p:nvPr/>
        </p:nvSpPr>
        <p:spPr>
          <a:xfrm>
            <a:off x="2258415" y="6100614"/>
            <a:ext cx="3157980" cy="646331"/>
          </a:xfrm>
          <a:prstGeom prst="rect">
            <a:avLst/>
          </a:prstGeom>
          <a:noFill/>
          <a:ln w="28575">
            <a:solidFill>
              <a:srgbClr val="00B0F0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/>
              <a:t>Click </a:t>
            </a:r>
            <a:r>
              <a:rPr lang="en-US" b="1" dirty="0" err="1"/>
              <a:t>lungo</a:t>
            </a:r>
            <a:r>
              <a:rPr lang="en-US" dirty="0"/>
              <a:t>: cambia </a:t>
            </a:r>
            <a:r>
              <a:rPr lang="en-US" dirty="0" err="1"/>
              <a:t>modalità</a:t>
            </a:r>
            <a:endParaRPr lang="en-US" dirty="0"/>
          </a:p>
          <a:p>
            <a:r>
              <a:rPr lang="en-US" dirty="0"/>
              <a:t>(</a:t>
            </a:r>
            <a:r>
              <a:rPr lang="en-US" dirty="0" err="1"/>
              <a:t>elenco</a:t>
            </a:r>
            <a:r>
              <a:rPr lang="en-US" dirty="0"/>
              <a:t> </a:t>
            </a:r>
            <a:r>
              <a:rPr lang="en-US" dirty="0" err="1"/>
              <a:t>circolare</a:t>
            </a:r>
            <a:r>
              <a:rPr lang="en-US" dirty="0"/>
              <a:t>)</a:t>
            </a:r>
          </a:p>
        </p:txBody>
      </p: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E49DE4EC-E5B7-6EE7-0B2F-1383A18D9F4F}"/>
              </a:ext>
            </a:extLst>
          </p:cNvPr>
          <p:cNvCxnSpPr>
            <a:cxnSpLocks/>
            <a:stCxn id="49" idx="0"/>
          </p:cNvCxnSpPr>
          <p:nvPr/>
        </p:nvCxnSpPr>
        <p:spPr>
          <a:xfrm flipV="1">
            <a:off x="3837405" y="3367043"/>
            <a:ext cx="956786" cy="2733571"/>
          </a:xfrm>
          <a:prstGeom prst="straightConnector1">
            <a:avLst/>
          </a:prstGeom>
          <a:ln w="19050">
            <a:solidFill>
              <a:srgbClr val="00B0F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>
            <a:extLst>
              <a:ext uri="{FF2B5EF4-FFF2-40B4-BE49-F238E27FC236}">
                <a16:creationId xmlns:a16="http://schemas.microsoft.com/office/drawing/2014/main" id="{3F551A6E-319F-D583-28CD-B0EC2B969D03}"/>
              </a:ext>
            </a:extLst>
          </p:cNvPr>
          <p:cNvSpPr txBox="1"/>
          <p:nvPr/>
        </p:nvSpPr>
        <p:spPr>
          <a:xfrm>
            <a:off x="4166075" y="691820"/>
            <a:ext cx="2890471" cy="646331"/>
          </a:xfrm>
          <a:prstGeom prst="rect">
            <a:avLst/>
          </a:prstGeom>
          <a:noFill/>
          <a:ln w="28575">
            <a:solidFill>
              <a:schemeClr val="accent3">
                <a:lumMod val="60000"/>
                <a:lumOff val="40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/>
              <a:t>L2/R2</a:t>
            </a:r>
            <a:r>
              <a:rPr lang="en-US" dirty="0"/>
              <a:t>: </a:t>
            </a:r>
            <a:r>
              <a:rPr lang="en-US" dirty="0" err="1"/>
              <a:t>diminuisci</a:t>
            </a:r>
            <a:r>
              <a:rPr lang="en-US" dirty="0"/>
              <a:t>/</a:t>
            </a:r>
            <a:r>
              <a:rPr lang="en-US" dirty="0" err="1"/>
              <a:t>aumenta</a:t>
            </a:r>
            <a:endParaRPr lang="en-US" dirty="0"/>
          </a:p>
          <a:p>
            <a:r>
              <a:rPr lang="en-US" dirty="0"/>
              <a:t>la </a:t>
            </a:r>
            <a:r>
              <a:rPr lang="en-US" dirty="0" err="1"/>
              <a:t>velocità</a:t>
            </a:r>
            <a:r>
              <a:rPr lang="en-US" dirty="0"/>
              <a:t> </a:t>
            </a:r>
            <a:r>
              <a:rPr lang="en-US" dirty="0" err="1"/>
              <a:t>massima</a:t>
            </a:r>
            <a:endParaRPr lang="en-US" dirty="0"/>
          </a:p>
        </p:txBody>
      </p:sp>
      <p:cxnSp>
        <p:nvCxnSpPr>
          <p:cNvPr id="1024" name="Straight Arrow Connector 1023">
            <a:extLst>
              <a:ext uri="{FF2B5EF4-FFF2-40B4-BE49-F238E27FC236}">
                <a16:creationId xmlns:a16="http://schemas.microsoft.com/office/drawing/2014/main" id="{68A4F943-9F81-A449-1799-84ACBAC20E0E}"/>
              </a:ext>
            </a:extLst>
          </p:cNvPr>
          <p:cNvCxnSpPr>
            <a:cxnSpLocks/>
            <a:stCxn id="63" idx="2"/>
          </p:cNvCxnSpPr>
          <p:nvPr/>
        </p:nvCxnSpPr>
        <p:spPr>
          <a:xfrm flipH="1">
            <a:off x="4033614" y="1338151"/>
            <a:ext cx="1577697" cy="395979"/>
          </a:xfrm>
          <a:prstGeom prst="straightConnector1">
            <a:avLst/>
          </a:prstGeom>
          <a:ln w="19050">
            <a:solidFill>
              <a:schemeClr val="accent3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8" name="Straight Arrow Connector 1027">
            <a:extLst>
              <a:ext uri="{FF2B5EF4-FFF2-40B4-BE49-F238E27FC236}">
                <a16:creationId xmlns:a16="http://schemas.microsoft.com/office/drawing/2014/main" id="{F88D5E9C-B022-2C26-659A-BA1704927036}"/>
              </a:ext>
            </a:extLst>
          </p:cNvPr>
          <p:cNvCxnSpPr>
            <a:cxnSpLocks/>
            <a:stCxn id="63" idx="2"/>
          </p:cNvCxnSpPr>
          <p:nvPr/>
        </p:nvCxnSpPr>
        <p:spPr>
          <a:xfrm>
            <a:off x="5611311" y="1338151"/>
            <a:ext cx="1592224" cy="410194"/>
          </a:xfrm>
          <a:prstGeom prst="straightConnector1">
            <a:avLst/>
          </a:prstGeom>
          <a:ln w="19050">
            <a:solidFill>
              <a:schemeClr val="accent3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EEABD6A5-813D-0DAE-65D0-3683E796DB15}"/>
              </a:ext>
            </a:extLst>
          </p:cNvPr>
          <p:cNvSpPr txBox="1"/>
          <p:nvPr/>
        </p:nvSpPr>
        <p:spPr>
          <a:xfrm>
            <a:off x="5611310" y="6100614"/>
            <a:ext cx="3547574" cy="64633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/>
              <a:t>Click </a:t>
            </a:r>
            <a:r>
              <a:rPr lang="en-US" b="1" dirty="0" err="1"/>
              <a:t>corto</a:t>
            </a:r>
            <a:r>
              <a:rPr lang="en-US" dirty="0"/>
              <a:t>: cambia sub </a:t>
            </a:r>
            <a:r>
              <a:rPr lang="en-US" dirty="0" err="1"/>
              <a:t>modalità</a:t>
            </a:r>
            <a:endParaRPr lang="en-US" dirty="0"/>
          </a:p>
          <a:p>
            <a:r>
              <a:rPr lang="en-US" dirty="0"/>
              <a:t>(</a:t>
            </a:r>
            <a:r>
              <a:rPr lang="en-US" dirty="0" err="1"/>
              <a:t>elenco</a:t>
            </a:r>
            <a:r>
              <a:rPr lang="en-US" dirty="0"/>
              <a:t> </a:t>
            </a:r>
            <a:r>
              <a:rPr lang="en-US" dirty="0" err="1"/>
              <a:t>circolare</a:t>
            </a:r>
            <a:r>
              <a:rPr lang="en-US" dirty="0"/>
              <a:t>)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A98C5BDA-A56F-73A9-74F0-6697C43A83FD}"/>
              </a:ext>
            </a:extLst>
          </p:cNvPr>
          <p:cNvCxnSpPr>
            <a:cxnSpLocks/>
            <a:stCxn id="12" idx="0"/>
          </p:cNvCxnSpPr>
          <p:nvPr/>
        </p:nvCxnSpPr>
        <p:spPr>
          <a:xfrm flipH="1" flipV="1">
            <a:off x="5221480" y="3367043"/>
            <a:ext cx="2163617" cy="2733571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E4EF911D-5C0A-D711-702C-D92EE72B029F}"/>
              </a:ext>
            </a:extLst>
          </p:cNvPr>
          <p:cNvSpPr txBox="1"/>
          <p:nvPr/>
        </p:nvSpPr>
        <p:spPr>
          <a:xfrm>
            <a:off x="8040570" y="1087799"/>
            <a:ext cx="2453416" cy="646331"/>
          </a:xfrm>
          <a:prstGeom prst="rect">
            <a:avLst/>
          </a:prstGeom>
          <a:noFill/>
          <a:ln w="28575">
            <a:solidFill>
              <a:srgbClr val="FFC000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 err="1"/>
              <a:t>Riattiva</a:t>
            </a:r>
            <a:r>
              <a:rPr lang="en-US" dirty="0"/>
              <a:t> il joystick </a:t>
            </a:r>
            <a:r>
              <a:rPr lang="en-US" dirty="0" err="1"/>
              <a:t>dalla</a:t>
            </a:r>
            <a:r>
              <a:rPr lang="en-US" dirty="0"/>
              <a:t> </a:t>
            </a:r>
            <a:r>
              <a:rPr lang="en-US" dirty="0" err="1"/>
              <a:t>modalità</a:t>
            </a:r>
            <a:r>
              <a:rPr lang="en-US" dirty="0"/>
              <a:t> standby</a:t>
            </a:r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6C9821D5-41AC-9E60-6DCC-88CAE44BAA3D}"/>
              </a:ext>
            </a:extLst>
          </p:cNvPr>
          <p:cNvCxnSpPr>
            <a:cxnSpLocks/>
            <a:stCxn id="2" idx="2"/>
          </p:cNvCxnSpPr>
          <p:nvPr/>
        </p:nvCxnSpPr>
        <p:spPr>
          <a:xfrm flipH="1">
            <a:off x="6272613" y="1734130"/>
            <a:ext cx="2994665" cy="1521818"/>
          </a:xfrm>
          <a:prstGeom prst="straightConnector1">
            <a:avLst/>
          </a:prstGeom>
          <a:ln w="19050"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7FE9EAF0-85EC-911C-55E6-C2B277C82332}"/>
              </a:ext>
            </a:extLst>
          </p:cNvPr>
          <p:cNvSpPr txBox="1"/>
          <p:nvPr/>
        </p:nvSpPr>
        <p:spPr>
          <a:xfrm>
            <a:off x="9152785" y="3301453"/>
            <a:ext cx="2962302" cy="2585323"/>
          </a:xfrm>
          <a:prstGeom prst="rect">
            <a:avLst/>
          </a:prstGeom>
          <a:noFill/>
          <a:ln w="28575">
            <a:solidFill>
              <a:srgbClr val="00B0F0"/>
            </a:solidFill>
          </a:ln>
        </p:spPr>
        <p:txBody>
          <a:bodyPr wrap="square" rtlCol="0">
            <a:spAutoFit/>
          </a:bodyPr>
          <a:lstStyle/>
          <a:p>
            <a:r>
              <a:rPr lang="en-US" b="1" noProof="0" dirty="0"/>
              <a:t>Push-to-talk con AI</a:t>
            </a:r>
            <a:r>
              <a:rPr lang="en-US" noProof="0" dirty="0"/>
              <a:t>: </a:t>
            </a:r>
            <a:r>
              <a:rPr lang="en-US" dirty="0" err="1"/>
              <a:t>mentre</a:t>
            </a:r>
            <a:r>
              <a:rPr lang="en-US" dirty="0"/>
              <a:t> il </a:t>
            </a:r>
            <a:r>
              <a:rPr lang="en-US" dirty="0" err="1"/>
              <a:t>pulsante</a:t>
            </a:r>
            <a:r>
              <a:rPr lang="en-US" dirty="0"/>
              <a:t> è </a:t>
            </a:r>
            <a:r>
              <a:rPr lang="en-US" dirty="0" err="1"/>
              <a:t>premuto</a:t>
            </a:r>
            <a:r>
              <a:rPr lang="en-US" dirty="0"/>
              <a:t>, il </a:t>
            </a:r>
            <a:r>
              <a:rPr lang="en-US" dirty="0" err="1"/>
              <a:t>microfono</a:t>
            </a:r>
            <a:r>
              <a:rPr lang="en-US" dirty="0"/>
              <a:t> del robot </a:t>
            </a:r>
            <a:r>
              <a:rPr lang="en-US" dirty="0" err="1"/>
              <a:t>registra</a:t>
            </a:r>
            <a:r>
              <a:rPr lang="en-US" noProof="0" dirty="0"/>
              <a:t>. Quando il </a:t>
            </a:r>
            <a:r>
              <a:rPr lang="en-US" noProof="0" dirty="0" err="1"/>
              <a:t>pulsante</a:t>
            </a:r>
            <a:r>
              <a:rPr lang="en-US" noProof="0" dirty="0"/>
              <a:t> </a:t>
            </a:r>
            <a:r>
              <a:rPr lang="en-US" noProof="0" dirty="0" err="1"/>
              <a:t>viene</a:t>
            </a:r>
            <a:r>
              <a:rPr lang="en-US" noProof="0" dirty="0"/>
              <a:t> </a:t>
            </a:r>
            <a:r>
              <a:rPr lang="en-US" noProof="0" dirty="0" err="1"/>
              <a:t>rilasciato</a:t>
            </a:r>
            <a:r>
              <a:rPr lang="en-US" noProof="0" dirty="0"/>
              <a:t>, la </a:t>
            </a:r>
            <a:r>
              <a:rPr lang="en-US" noProof="0" dirty="0" err="1"/>
              <a:t>registrazione</a:t>
            </a:r>
            <a:r>
              <a:rPr lang="en-US" noProof="0" dirty="0"/>
              <a:t> </a:t>
            </a:r>
            <a:r>
              <a:rPr lang="en-US" noProof="0" dirty="0" err="1"/>
              <a:t>viene</a:t>
            </a:r>
            <a:r>
              <a:rPr lang="en-US" noProof="0" dirty="0"/>
              <a:t> </a:t>
            </a:r>
            <a:r>
              <a:rPr lang="en-US" noProof="0" dirty="0" err="1"/>
              <a:t>inviata</a:t>
            </a:r>
            <a:r>
              <a:rPr lang="en-US" noProof="0" dirty="0"/>
              <a:t> ad </a:t>
            </a:r>
            <a:r>
              <a:rPr lang="en-US" noProof="0" dirty="0" err="1"/>
              <a:t>un’IA</a:t>
            </a:r>
            <a:r>
              <a:rPr lang="en-US" noProof="0" dirty="0"/>
              <a:t> </a:t>
            </a:r>
            <a:r>
              <a:rPr lang="en-US" noProof="0" dirty="0" err="1"/>
              <a:t>che</a:t>
            </a:r>
            <a:r>
              <a:rPr lang="en-US" noProof="0" dirty="0"/>
              <a:t> </a:t>
            </a:r>
            <a:r>
              <a:rPr lang="en-US" noProof="0" dirty="0" err="1"/>
              <a:t>può</a:t>
            </a:r>
            <a:r>
              <a:rPr lang="en-US" noProof="0" dirty="0"/>
              <a:t> </a:t>
            </a:r>
            <a:r>
              <a:rPr lang="en-US" noProof="0" dirty="0" err="1"/>
              <a:t>vedere</a:t>
            </a:r>
            <a:r>
              <a:rPr lang="en-US" noProof="0" dirty="0"/>
              <a:t> </a:t>
            </a:r>
            <a:r>
              <a:rPr lang="en-US" noProof="0" dirty="0" err="1"/>
              <a:t>dalla</a:t>
            </a:r>
            <a:r>
              <a:rPr lang="en-US" noProof="0" dirty="0"/>
              <a:t> telecamera del robot, </a:t>
            </a:r>
            <a:r>
              <a:rPr lang="en-US" noProof="0" dirty="0" err="1"/>
              <a:t>parlare</a:t>
            </a:r>
            <a:r>
              <a:rPr lang="en-US" noProof="0" dirty="0"/>
              <a:t>, e </a:t>
            </a:r>
            <a:r>
              <a:rPr lang="en-US" noProof="0" dirty="0" err="1"/>
              <a:t>muovere</a:t>
            </a:r>
            <a:r>
              <a:rPr lang="en-US" noProof="0" dirty="0"/>
              <a:t> il robot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4F20B865-BA1D-E927-306D-BC1A1014BA2D}"/>
              </a:ext>
            </a:extLst>
          </p:cNvPr>
          <p:cNvCxnSpPr>
            <a:cxnSpLocks/>
            <a:stCxn id="5" idx="1"/>
          </p:cNvCxnSpPr>
          <p:nvPr/>
        </p:nvCxnSpPr>
        <p:spPr>
          <a:xfrm flipH="1" flipV="1">
            <a:off x="7862131" y="3902279"/>
            <a:ext cx="1290654" cy="691836"/>
          </a:xfrm>
          <a:prstGeom prst="straightConnector1">
            <a:avLst/>
          </a:prstGeom>
          <a:ln w="19050">
            <a:solidFill>
              <a:srgbClr val="00B0F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9590274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6D43E1-D8E0-F7B4-2207-8B0CB72E47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OSTENT Cablato Analogico Controller Gamepad Joystick Joypad per Sony  Playstation PS2 PS1 PS One PSX Console Dual Shock Vibration Video Games :  ...">
            <a:extLst>
              <a:ext uri="{FF2B5EF4-FFF2-40B4-BE49-F238E27FC236}">
                <a16:creationId xmlns:a16="http://schemas.microsoft.com/office/drawing/2014/main" id="{D7C0C947-2722-7BC6-5A81-14F9221C7D4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888" b="29584"/>
          <a:stretch/>
        </p:blipFill>
        <p:spPr bwMode="auto">
          <a:xfrm>
            <a:off x="2190750" y="1680553"/>
            <a:ext cx="6858000" cy="42881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D47D9D9E-B9FE-1F63-8201-CBD81F9D5766}"/>
              </a:ext>
            </a:extLst>
          </p:cNvPr>
          <p:cNvSpPr txBox="1"/>
          <p:nvPr/>
        </p:nvSpPr>
        <p:spPr>
          <a:xfrm>
            <a:off x="1590675" y="0"/>
            <a:ext cx="629435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2800" b="1" noProof="0" dirty="0"/>
              <a:t>Modalità controllato da utente (ruote)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1FC50DB-DBCF-3867-2420-EB9224008D8A}"/>
              </a:ext>
            </a:extLst>
          </p:cNvPr>
          <p:cNvSpPr txBox="1"/>
          <p:nvPr/>
        </p:nvSpPr>
        <p:spPr>
          <a:xfrm>
            <a:off x="157874" y="1804099"/>
            <a:ext cx="1658852" cy="64633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Trasla</a:t>
            </a:r>
            <a:r>
              <a:rPr lang="en-US" dirty="0"/>
              <a:t> verso</a:t>
            </a:r>
          </a:p>
          <a:p>
            <a:r>
              <a:rPr lang="en-US" dirty="0" err="1"/>
              <a:t>destra</a:t>
            </a:r>
            <a:r>
              <a:rPr lang="en-US" dirty="0"/>
              <a:t>/sinistra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3D3C15C0-5180-EBF9-93E3-EC1A12E94CFD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987300" y="2450430"/>
            <a:ext cx="2251556" cy="720060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066D2EB8-CAA9-5013-B32D-11184C23DFC5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987300" y="2450430"/>
            <a:ext cx="3268506" cy="1756821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9D40A715-588E-6D2F-8A4A-4F08D132DE3A}"/>
              </a:ext>
            </a:extLst>
          </p:cNvPr>
          <p:cNvSpPr txBox="1"/>
          <p:nvPr/>
        </p:nvSpPr>
        <p:spPr>
          <a:xfrm>
            <a:off x="605327" y="6272465"/>
            <a:ext cx="2273379" cy="369332"/>
          </a:xfrm>
          <a:prstGeom prst="rect">
            <a:avLst/>
          </a:prstGeom>
          <a:noFill/>
          <a:ln w="28575">
            <a:solidFill>
              <a:srgbClr val="FFC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Muovi</a:t>
            </a:r>
            <a:r>
              <a:rPr lang="en-US" dirty="0"/>
              <a:t> avanti/</a:t>
            </a:r>
            <a:r>
              <a:rPr lang="en-US" dirty="0" err="1"/>
              <a:t>indietro</a:t>
            </a:r>
            <a:endParaRPr lang="en-US" dirty="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45DC6A73-7AFA-D856-F122-7E4986DCBDB2}"/>
              </a:ext>
            </a:extLst>
          </p:cNvPr>
          <p:cNvCxnSpPr>
            <a:cxnSpLocks/>
          </p:cNvCxnSpPr>
          <p:nvPr/>
        </p:nvCxnSpPr>
        <p:spPr>
          <a:xfrm>
            <a:off x="3170489" y="3290136"/>
            <a:ext cx="863125" cy="0"/>
          </a:xfrm>
          <a:prstGeom prst="straightConnector1">
            <a:avLst/>
          </a:prstGeom>
          <a:ln w="57150">
            <a:solidFill>
              <a:srgbClr val="FF0000"/>
            </a:solidFill>
            <a:prstDash val="sysDot"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2CAF4B9B-E12D-E843-5C2F-D02AB2C8F3AD}"/>
              </a:ext>
            </a:extLst>
          </p:cNvPr>
          <p:cNvCxnSpPr>
            <a:cxnSpLocks/>
          </p:cNvCxnSpPr>
          <p:nvPr/>
        </p:nvCxnSpPr>
        <p:spPr>
          <a:xfrm>
            <a:off x="4166075" y="4309309"/>
            <a:ext cx="863125" cy="0"/>
          </a:xfrm>
          <a:prstGeom prst="straightConnector1">
            <a:avLst/>
          </a:prstGeom>
          <a:ln w="57150">
            <a:solidFill>
              <a:srgbClr val="FF0000"/>
            </a:solidFill>
            <a:prstDash val="sysDot"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640B0BA9-9FE2-BC7E-64D6-2B33F00C7C2D}"/>
              </a:ext>
            </a:extLst>
          </p:cNvPr>
          <p:cNvCxnSpPr>
            <a:cxnSpLocks/>
            <a:stCxn id="11" idx="0"/>
          </p:cNvCxnSpPr>
          <p:nvPr/>
        </p:nvCxnSpPr>
        <p:spPr>
          <a:xfrm flipV="1">
            <a:off x="1742017" y="3615221"/>
            <a:ext cx="1776531" cy="2657244"/>
          </a:xfrm>
          <a:prstGeom prst="straightConnector1">
            <a:avLst/>
          </a:prstGeom>
          <a:ln w="19050"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D6535C98-305A-6676-45E4-DDD82CD5072D}"/>
              </a:ext>
            </a:extLst>
          </p:cNvPr>
          <p:cNvCxnSpPr>
            <a:cxnSpLocks/>
            <a:stCxn id="11" idx="0"/>
          </p:cNvCxnSpPr>
          <p:nvPr/>
        </p:nvCxnSpPr>
        <p:spPr>
          <a:xfrm flipV="1">
            <a:off x="1742017" y="4622530"/>
            <a:ext cx="2802259" cy="1649935"/>
          </a:xfrm>
          <a:prstGeom prst="straightConnector1">
            <a:avLst/>
          </a:prstGeom>
          <a:ln w="19050"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716F1337-8E10-BB31-8ED3-7057A93CC270}"/>
              </a:ext>
            </a:extLst>
          </p:cNvPr>
          <p:cNvCxnSpPr>
            <a:cxnSpLocks/>
          </p:cNvCxnSpPr>
          <p:nvPr/>
        </p:nvCxnSpPr>
        <p:spPr>
          <a:xfrm rot="5400000">
            <a:off x="4166074" y="4309309"/>
            <a:ext cx="863125" cy="0"/>
          </a:xfrm>
          <a:prstGeom prst="straightConnector1">
            <a:avLst/>
          </a:prstGeom>
          <a:ln w="57150">
            <a:solidFill>
              <a:srgbClr val="FFC000"/>
            </a:solidFill>
            <a:prstDash val="sysDot"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2A3C40B4-3F1B-8210-A57D-890B231B46EA}"/>
              </a:ext>
            </a:extLst>
          </p:cNvPr>
          <p:cNvCxnSpPr>
            <a:cxnSpLocks/>
          </p:cNvCxnSpPr>
          <p:nvPr/>
        </p:nvCxnSpPr>
        <p:spPr>
          <a:xfrm rot="5400000">
            <a:off x="3160518" y="3289417"/>
            <a:ext cx="863125" cy="0"/>
          </a:xfrm>
          <a:prstGeom prst="straightConnector1">
            <a:avLst/>
          </a:prstGeom>
          <a:ln w="57150">
            <a:solidFill>
              <a:srgbClr val="FFC000"/>
            </a:solidFill>
            <a:prstDash val="sysDot"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19FBEDBA-617A-8382-F364-913EF93A11B1}"/>
              </a:ext>
            </a:extLst>
          </p:cNvPr>
          <p:cNvSpPr txBox="1"/>
          <p:nvPr/>
        </p:nvSpPr>
        <p:spPr>
          <a:xfrm>
            <a:off x="9497483" y="5784042"/>
            <a:ext cx="1699504" cy="369332"/>
          </a:xfrm>
          <a:prstGeom prst="rect">
            <a:avLst/>
          </a:prstGeom>
          <a:noFill/>
          <a:ln w="28575">
            <a:solidFill>
              <a:srgbClr val="00B0F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Clacson</a:t>
            </a:r>
            <a:r>
              <a:rPr lang="en-US" dirty="0"/>
              <a:t> (beep)</a:t>
            </a: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1804347B-C6BF-5A25-702B-92393084095B}"/>
              </a:ext>
            </a:extLst>
          </p:cNvPr>
          <p:cNvCxnSpPr>
            <a:cxnSpLocks/>
            <a:stCxn id="30" idx="0"/>
          </p:cNvCxnSpPr>
          <p:nvPr/>
        </p:nvCxnSpPr>
        <p:spPr>
          <a:xfrm flipH="1" flipV="1">
            <a:off x="7799464" y="3964310"/>
            <a:ext cx="2547771" cy="1819732"/>
          </a:xfrm>
          <a:prstGeom prst="straightConnector1">
            <a:avLst/>
          </a:prstGeom>
          <a:ln w="19050">
            <a:solidFill>
              <a:srgbClr val="00B0F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8DE8509B-60AF-4CE6-2415-F6CB386CB5C4}"/>
              </a:ext>
            </a:extLst>
          </p:cNvPr>
          <p:cNvSpPr txBox="1"/>
          <p:nvPr/>
        </p:nvSpPr>
        <p:spPr>
          <a:xfrm>
            <a:off x="10028489" y="2975577"/>
            <a:ext cx="1513556" cy="64633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Gpio</a:t>
            </a:r>
            <a:r>
              <a:rPr lang="en-US" dirty="0"/>
              <a:t> LED</a:t>
            </a:r>
          </a:p>
          <a:p>
            <a:r>
              <a:rPr lang="en-US" dirty="0"/>
              <a:t>(cicla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colori</a:t>
            </a:r>
            <a:r>
              <a:rPr lang="en-US" dirty="0"/>
              <a:t>)</a:t>
            </a: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F5A52B0D-4072-36C6-7577-7E56EBFA4FF1}"/>
              </a:ext>
            </a:extLst>
          </p:cNvPr>
          <p:cNvCxnSpPr>
            <a:cxnSpLocks/>
            <a:stCxn id="35" idx="1"/>
          </p:cNvCxnSpPr>
          <p:nvPr/>
        </p:nvCxnSpPr>
        <p:spPr>
          <a:xfrm flipH="1">
            <a:off x="8405813" y="3298743"/>
            <a:ext cx="1622676" cy="0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7E75FBCC-15D3-E7A6-6E51-533E20640B29}"/>
              </a:ext>
            </a:extLst>
          </p:cNvPr>
          <p:cNvSpPr txBox="1"/>
          <p:nvPr/>
        </p:nvSpPr>
        <p:spPr>
          <a:xfrm>
            <a:off x="9707346" y="1871534"/>
            <a:ext cx="1592632" cy="646331"/>
          </a:xfrm>
          <a:prstGeom prst="rect">
            <a:avLst/>
          </a:prstGeom>
          <a:noFill/>
          <a:ln w="28575">
            <a:solidFill>
              <a:schemeClr val="accent3">
                <a:lumMod val="60000"/>
                <a:lumOff val="4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Luci interne</a:t>
            </a:r>
          </a:p>
          <a:p>
            <a:r>
              <a:rPr lang="en-US" dirty="0"/>
              <a:t>(cicla pattern)</a:t>
            </a:r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E0FC0D0D-1C54-EC62-F7C6-0CA44AD6EAB2}"/>
              </a:ext>
            </a:extLst>
          </p:cNvPr>
          <p:cNvCxnSpPr>
            <a:cxnSpLocks/>
            <a:stCxn id="39" idx="1"/>
          </p:cNvCxnSpPr>
          <p:nvPr/>
        </p:nvCxnSpPr>
        <p:spPr>
          <a:xfrm flipH="1">
            <a:off x="7799464" y="2194700"/>
            <a:ext cx="1907882" cy="534658"/>
          </a:xfrm>
          <a:prstGeom prst="straightConnector1">
            <a:avLst/>
          </a:prstGeom>
          <a:ln w="19050">
            <a:solidFill>
              <a:schemeClr val="accent3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5821EFBF-D7FE-B6F5-02C0-46F2DD674267}"/>
              </a:ext>
            </a:extLst>
          </p:cNvPr>
          <p:cNvSpPr txBox="1"/>
          <p:nvPr/>
        </p:nvSpPr>
        <p:spPr>
          <a:xfrm>
            <a:off x="7071639" y="6083163"/>
            <a:ext cx="1687706" cy="64633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Ruota</a:t>
            </a:r>
            <a:r>
              <a:rPr lang="en-US" dirty="0"/>
              <a:t> verso</a:t>
            </a:r>
          </a:p>
          <a:p>
            <a:r>
              <a:rPr lang="en-US" dirty="0"/>
              <a:t>Destra/sinistra</a:t>
            </a:r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712C10D9-6962-AC5C-9734-10785D6B34D6}"/>
              </a:ext>
            </a:extLst>
          </p:cNvPr>
          <p:cNvCxnSpPr>
            <a:cxnSpLocks/>
          </p:cNvCxnSpPr>
          <p:nvPr/>
        </p:nvCxnSpPr>
        <p:spPr>
          <a:xfrm>
            <a:off x="6227480" y="4309309"/>
            <a:ext cx="863125" cy="0"/>
          </a:xfrm>
          <a:prstGeom prst="straightConnector1">
            <a:avLst/>
          </a:prstGeom>
          <a:ln w="57150">
            <a:solidFill>
              <a:srgbClr val="FF0000"/>
            </a:solidFill>
            <a:prstDash val="sysDot"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2AD74B14-15EA-5683-5F46-847C6FEDF6B8}"/>
              </a:ext>
            </a:extLst>
          </p:cNvPr>
          <p:cNvCxnSpPr>
            <a:cxnSpLocks/>
            <a:stCxn id="42" idx="0"/>
          </p:cNvCxnSpPr>
          <p:nvPr/>
        </p:nvCxnSpPr>
        <p:spPr>
          <a:xfrm flipH="1" flipV="1">
            <a:off x="6886575" y="4391025"/>
            <a:ext cx="1028917" cy="1692138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>
            <a:extLst>
              <a:ext uri="{FF2B5EF4-FFF2-40B4-BE49-F238E27FC236}">
                <a16:creationId xmlns:a16="http://schemas.microsoft.com/office/drawing/2014/main" id="{07C34145-0477-8C1C-3BCD-17786CC4207E}"/>
              </a:ext>
            </a:extLst>
          </p:cNvPr>
          <p:cNvSpPr txBox="1"/>
          <p:nvPr/>
        </p:nvSpPr>
        <p:spPr>
          <a:xfrm>
            <a:off x="1450155" y="689127"/>
            <a:ext cx="1630959" cy="646331"/>
          </a:xfrm>
          <a:prstGeom prst="rect">
            <a:avLst/>
          </a:prstGeom>
          <a:noFill/>
          <a:ln w="28575">
            <a:solidFill>
              <a:srgbClr val="00B0F0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/>
              <a:t>L1</a:t>
            </a:r>
            <a:r>
              <a:rPr lang="en-US" dirty="0"/>
              <a:t>: </a:t>
            </a:r>
            <a:r>
              <a:rPr lang="en-US" dirty="0" err="1"/>
              <a:t>switcha</a:t>
            </a:r>
            <a:r>
              <a:rPr lang="en-US" dirty="0"/>
              <a:t> </a:t>
            </a:r>
            <a:r>
              <a:rPr lang="en-US" dirty="0" err="1"/>
              <a:t>tra</a:t>
            </a:r>
            <a:endParaRPr lang="en-US" dirty="0"/>
          </a:p>
          <a:p>
            <a:r>
              <a:rPr lang="en-US" dirty="0" err="1"/>
              <a:t>wifi</a:t>
            </a:r>
            <a:r>
              <a:rPr lang="en-US" dirty="0"/>
              <a:t> e hotspot</a:t>
            </a:r>
          </a:p>
        </p:txBody>
      </p: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60A0BEF5-AB6F-03D9-0C2F-D13D189F4E25}"/>
              </a:ext>
            </a:extLst>
          </p:cNvPr>
          <p:cNvCxnSpPr>
            <a:cxnSpLocks/>
            <a:stCxn id="58" idx="2"/>
          </p:cNvCxnSpPr>
          <p:nvPr/>
        </p:nvCxnSpPr>
        <p:spPr>
          <a:xfrm>
            <a:off x="2265635" y="1335458"/>
            <a:ext cx="1189503" cy="369332"/>
          </a:xfrm>
          <a:prstGeom prst="straightConnector1">
            <a:avLst/>
          </a:prstGeom>
          <a:ln w="19050">
            <a:solidFill>
              <a:srgbClr val="00B0F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1" name="TextBox 1030">
            <a:extLst>
              <a:ext uri="{FF2B5EF4-FFF2-40B4-BE49-F238E27FC236}">
                <a16:creationId xmlns:a16="http://schemas.microsoft.com/office/drawing/2014/main" id="{604F4C9D-55EC-2CB5-01E0-AE7B20AA6F28}"/>
              </a:ext>
            </a:extLst>
          </p:cNvPr>
          <p:cNvSpPr txBox="1"/>
          <p:nvPr/>
        </p:nvSpPr>
        <p:spPr>
          <a:xfrm>
            <a:off x="7862131" y="689127"/>
            <a:ext cx="2638992" cy="646331"/>
          </a:xfrm>
          <a:prstGeom prst="rect">
            <a:avLst/>
          </a:prstGeom>
          <a:noFill/>
          <a:ln w="28575">
            <a:solidFill>
              <a:srgbClr val="FFC000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/>
              <a:t>R1</a:t>
            </a:r>
            <a:r>
              <a:rPr lang="en-US" dirty="0"/>
              <a:t>: </a:t>
            </a:r>
            <a:r>
              <a:rPr lang="en-US" dirty="0" err="1"/>
              <a:t>attiva</a:t>
            </a:r>
            <a:r>
              <a:rPr lang="en-US" dirty="0"/>
              <a:t>/</a:t>
            </a:r>
            <a:r>
              <a:rPr lang="en-US" dirty="0" err="1"/>
              <a:t>disattiva</a:t>
            </a:r>
            <a:r>
              <a:rPr lang="en-US" dirty="0"/>
              <a:t> ROS2</a:t>
            </a:r>
          </a:p>
          <a:p>
            <a:r>
              <a:rPr lang="en-US" dirty="0"/>
              <a:t>(</a:t>
            </a:r>
            <a:r>
              <a:rPr lang="en-US" dirty="0" err="1"/>
              <a:t>connessione</a:t>
            </a:r>
            <a:r>
              <a:rPr lang="en-US" dirty="0"/>
              <a:t> con VR)</a:t>
            </a:r>
          </a:p>
        </p:txBody>
      </p:sp>
      <p:cxnSp>
        <p:nvCxnSpPr>
          <p:cNvPr id="1034" name="Straight Arrow Connector 1033">
            <a:extLst>
              <a:ext uri="{FF2B5EF4-FFF2-40B4-BE49-F238E27FC236}">
                <a16:creationId xmlns:a16="http://schemas.microsoft.com/office/drawing/2014/main" id="{07FD986A-B3C5-4BCB-E93D-4271871922E4}"/>
              </a:ext>
            </a:extLst>
          </p:cNvPr>
          <p:cNvCxnSpPr>
            <a:cxnSpLocks/>
            <a:stCxn id="1031" idx="2"/>
          </p:cNvCxnSpPr>
          <p:nvPr/>
        </p:nvCxnSpPr>
        <p:spPr>
          <a:xfrm flipH="1">
            <a:off x="7915492" y="1335458"/>
            <a:ext cx="1266135" cy="369332"/>
          </a:xfrm>
          <a:prstGeom prst="straightConnector1">
            <a:avLst/>
          </a:prstGeom>
          <a:ln w="19050"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F2905AE0-AA2D-5FB8-A8C4-42ED6154CC76}"/>
              </a:ext>
            </a:extLst>
          </p:cNvPr>
          <p:cNvSpPr txBox="1"/>
          <p:nvPr/>
        </p:nvSpPr>
        <p:spPr>
          <a:xfrm>
            <a:off x="9611058" y="4078099"/>
            <a:ext cx="2326214" cy="646331"/>
          </a:xfrm>
          <a:prstGeom prst="rect">
            <a:avLst/>
          </a:prstGeom>
          <a:noFill/>
          <a:ln w="28575">
            <a:solidFill>
              <a:srgbClr val="FFC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Attiva</a:t>
            </a:r>
            <a:r>
              <a:rPr lang="en-US" dirty="0"/>
              <a:t>/</a:t>
            </a:r>
            <a:r>
              <a:rPr lang="en-US" dirty="0" err="1"/>
              <a:t>disattiva</a:t>
            </a:r>
            <a:r>
              <a:rPr lang="en-US" dirty="0"/>
              <a:t> lidar e</a:t>
            </a:r>
          </a:p>
          <a:p>
            <a:r>
              <a:rPr lang="en-US" dirty="0"/>
              <a:t>collision avoidance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944359B3-C2B6-311F-AAAC-DA9B8A86FB40}"/>
              </a:ext>
            </a:extLst>
          </p:cNvPr>
          <p:cNvCxnSpPr>
            <a:cxnSpLocks/>
            <a:stCxn id="2" idx="1"/>
          </p:cNvCxnSpPr>
          <p:nvPr/>
        </p:nvCxnSpPr>
        <p:spPr>
          <a:xfrm flipH="1" flipV="1">
            <a:off x="7203535" y="3318922"/>
            <a:ext cx="2407523" cy="1082343"/>
          </a:xfrm>
          <a:prstGeom prst="straightConnector1">
            <a:avLst/>
          </a:prstGeom>
          <a:ln w="19050"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425597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59C117-4A23-B311-2678-1F682BFFA7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img">
            <a:extLst>
              <a:ext uri="{FF2B5EF4-FFF2-40B4-BE49-F238E27FC236}">
                <a16:creationId xmlns:a16="http://schemas.microsoft.com/office/drawing/2014/main" id="{93C04CE9-946D-35F5-85A3-9CD2FE337B8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076" t="22324" r="129" b="50389"/>
          <a:stretch/>
        </p:blipFill>
        <p:spPr bwMode="auto">
          <a:xfrm rot="16200000">
            <a:off x="-2236316" y="2648748"/>
            <a:ext cx="5790892" cy="13030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Picture 2" descr="OSTENT Cablato Analogico Controller Gamepad Joystick Joypad per Sony  Playstation PS2 PS1 PS One PSX Console Dual Shock Vibration Video Games :  ...">
            <a:extLst>
              <a:ext uri="{FF2B5EF4-FFF2-40B4-BE49-F238E27FC236}">
                <a16:creationId xmlns:a16="http://schemas.microsoft.com/office/drawing/2014/main" id="{425D7419-587B-5D0E-20D8-C3037B154D1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888" b="29584"/>
          <a:stretch/>
        </p:blipFill>
        <p:spPr bwMode="auto">
          <a:xfrm>
            <a:off x="2190750" y="1680553"/>
            <a:ext cx="6858000" cy="42881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FD3ED27A-804E-6D49-C62F-383B7B82569F}"/>
              </a:ext>
            </a:extLst>
          </p:cNvPr>
          <p:cNvSpPr txBox="1"/>
          <p:nvPr/>
        </p:nvSpPr>
        <p:spPr>
          <a:xfrm>
            <a:off x="1675880" y="6090285"/>
            <a:ext cx="1870577" cy="646331"/>
          </a:xfrm>
          <a:prstGeom prst="rect">
            <a:avLst/>
          </a:prstGeom>
          <a:noFill/>
          <a:ln w="28575">
            <a:solidFill>
              <a:srgbClr val="00B0F0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 err="1"/>
              <a:t>Motore</a:t>
            </a:r>
            <a:r>
              <a:rPr lang="en-US" b="1" dirty="0"/>
              <a:t> 1</a:t>
            </a:r>
            <a:r>
              <a:rPr lang="en-US" dirty="0"/>
              <a:t>: </a:t>
            </a:r>
            <a:r>
              <a:rPr lang="en-US" dirty="0" err="1"/>
              <a:t>ruota</a:t>
            </a:r>
            <a:endParaRPr lang="en-US" dirty="0"/>
          </a:p>
          <a:p>
            <a:r>
              <a:rPr lang="en-US" dirty="0"/>
              <a:t>base del braccio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130D6542-EBF8-B950-A852-A5D4046DDB3B}"/>
              </a:ext>
            </a:extLst>
          </p:cNvPr>
          <p:cNvCxnSpPr>
            <a:cxnSpLocks/>
            <a:stCxn id="5" idx="0"/>
          </p:cNvCxnSpPr>
          <p:nvPr/>
        </p:nvCxnSpPr>
        <p:spPr>
          <a:xfrm flipV="1">
            <a:off x="2611169" y="4375447"/>
            <a:ext cx="1652051" cy="1714838"/>
          </a:xfrm>
          <a:prstGeom prst="straightConnector1">
            <a:avLst/>
          </a:prstGeom>
          <a:ln w="19050">
            <a:solidFill>
              <a:srgbClr val="00B0F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09C2464E-0B29-A2D1-8339-11637AC58901}"/>
              </a:ext>
            </a:extLst>
          </p:cNvPr>
          <p:cNvCxnSpPr>
            <a:cxnSpLocks/>
          </p:cNvCxnSpPr>
          <p:nvPr/>
        </p:nvCxnSpPr>
        <p:spPr>
          <a:xfrm>
            <a:off x="3170489" y="3290136"/>
            <a:ext cx="863125" cy="0"/>
          </a:xfrm>
          <a:prstGeom prst="straightConnector1">
            <a:avLst/>
          </a:prstGeom>
          <a:ln w="57150">
            <a:solidFill>
              <a:srgbClr val="47D45A"/>
            </a:solidFill>
            <a:prstDash val="sysDot"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EB65B1D-294F-51C1-21F9-3646845AF9A5}"/>
              </a:ext>
            </a:extLst>
          </p:cNvPr>
          <p:cNvCxnSpPr>
            <a:cxnSpLocks/>
          </p:cNvCxnSpPr>
          <p:nvPr/>
        </p:nvCxnSpPr>
        <p:spPr>
          <a:xfrm>
            <a:off x="4166075" y="4309309"/>
            <a:ext cx="863125" cy="0"/>
          </a:xfrm>
          <a:prstGeom prst="straightConnector1">
            <a:avLst/>
          </a:prstGeom>
          <a:ln w="57150">
            <a:solidFill>
              <a:srgbClr val="00B0F0"/>
            </a:solidFill>
            <a:prstDash val="sysDot"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4FE496BA-4DD1-1C5C-CDDD-BCE964ED9D55}"/>
              </a:ext>
            </a:extLst>
          </p:cNvPr>
          <p:cNvCxnSpPr>
            <a:cxnSpLocks/>
          </p:cNvCxnSpPr>
          <p:nvPr/>
        </p:nvCxnSpPr>
        <p:spPr>
          <a:xfrm rot="5400000">
            <a:off x="4166074" y="4309309"/>
            <a:ext cx="863125" cy="0"/>
          </a:xfrm>
          <a:prstGeom prst="straightConnector1">
            <a:avLst/>
          </a:prstGeom>
          <a:ln w="57150">
            <a:solidFill>
              <a:srgbClr val="FF0000"/>
            </a:solidFill>
            <a:prstDash val="sysDot"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75E8ED28-1B99-F5D4-1A44-FE5DD10B4975}"/>
              </a:ext>
            </a:extLst>
          </p:cNvPr>
          <p:cNvCxnSpPr>
            <a:cxnSpLocks/>
          </p:cNvCxnSpPr>
          <p:nvPr/>
        </p:nvCxnSpPr>
        <p:spPr>
          <a:xfrm rot="5400000">
            <a:off x="3160518" y="3289417"/>
            <a:ext cx="863125" cy="0"/>
          </a:xfrm>
          <a:prstGeom prst="straightConnector1">
            <a:avLst/>
          </a:prstGeom>
          <a:ln w="57150">
            <a:solidFill>
              <a:srgbClr val="FFC000"/>
            </a:solidFill>
            <a:prstDash val="sysDot"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179C4792-6C53-8C16-04C9-62467EEDDA67}"/>
              </a:ext>
            </a:extLst>
          </p:cNvPr>
          <p:cNvSpPr txBox="1"/>
          <p:nvPr/>
        </p:nvSpPr>
        <p:spPr>
          <a:xfrm>
            <a:off x="8896406" y="271017"/>
            <a:ext cx="3022329" cy="1477328"/>
          </a:xfrm>
          <a:prstGeom prst="rect">
            <a:avLst/>
          </a:prstGeom>
          <a:noFill/>
          <a:ln w="28575">
            <a:solidFill>
              <a:srgbClr val="00B0F0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/>
              <a:t>Y/X/B/A</a:t>
            </a:r>
            <a:r>
              <a:rPr lang="en-US" dirty="0"/>
              <a:t>: </a:t>
            </a:r>
            <a:r>
              <a:rPr lang="en-US" dirty="0" err="1"/>
              <a:t>premendo</a:t>
            </a:r>
            <a:r>
              <a:rPr lang="en-US" dirty="0"/>
              <a:t> per 2 secondi </a:t>
            </a:r>
            <a:r>
              <a:rPr lang="en-US" dirty="0" err="1"/>
              <a:t>memorizza</a:t>
            </a:r>
            <a:r>
              <a:rPr lang="en-US" dirty="0"/>
              <a:t> la </a:t>
            </a:r>
            <a:r>
              <a:rPr lang="en-US" dirty="0" err="1"/>
              <a:t>posizione</a:t>
            </a:r>
            <a:r>
              <a:rPr lang="en-US" dirty="0"/>
              <a:t> </a:t>
            </a:r>
            <a:r>
              <a:rPr lang="en-US" dirty="0" err="1"/>
              <a:t>attuale</a:t>
            </a:r>
            <a:r>
              <a:rPr lang="en-US" dirty="0"/>
              <a:t>. </a:t>
            </a:r>
            <a:r>
              <a:rPr lang="en-US" dirty="0" err="1"/>
              <a:t>Premendo</a:t>
            </a:r>
            <a:r>
              <a:rPr lang="en-US" dirty="0"/>
              <a:t> di nuovo porta il braccio </a:t>
            </a:r>
            <a:r>
              <a:rPr lang="en-US" dirty="0" err="1"/>
              <a:t>alla</a:t>
            </a:r>
            <a:r>
              <a:rPr lang="en-US" dirty="0"/>
              <a:t> </a:t>
            </a:r>
            <a:r>
              <a:rPr lang="en-US" dirty="0" err="1"/>
              <a:t>posizione</a:t>
            </a:r>
            <a:r>
              <a:rPr lang="en-US" dirty="0"/>
              <a:t> </a:t>
            </a:r>
            <a:r>
              <a:rPr lang="en-US" dirty="0" err="1"/>
              <a:t>memorizzata</a:t>
            </a:r>
            <a:endParaRPr lang="en-US" dirty="0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7688E3A-90C8-54FA-DF97-4AC3E9B594E4}"/>
              </a:ext>
            </a:extLst>
          </p:cNvPr>
          <p:cNvSpPr txBox="1"/>
          <p:nvPr/>
        </p:nvSpPr>
        <p:spPr>
          <a:xfrm>
            <a:off x="4771373" y="645551"/>
            <a:ext cx="1687706" cy="64633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 err="1"/>
              <a:t>Motore</a:t>
            </a:r>
            <a:r>
              <a:rPr lang="en-US" b="1" dirty="0"/>
              <a:t> 6</a:t>
            </a:r>
            <a:r>
              <a:rPr lang="en-US" dirty="0"/>
              <a:t>: </a:t>
            </a:r>
            <a:r>
              <a:rPr lang="en-US" dirty="0" err="1"/>
              <a:t>apri</a:t>
            </a:r>
            <a:r>
              <a:rPr lang="en-US" dirty="0"/>
              <a:t>/</a:t>
            </a:r>
          </a:p>
          <a:p>
            <a:r>
              <a:rPr lang="en-US" dirty="0" err="1"/>
              <a:t>chiudi</a:t>
            </a:r>
            <a:r>
              <a:rPr lang="en-US" dirty="0"/>
              <a:t> </a:t>
            </a:r>
            <a:r>
              <a:rPr lang="en-US" dirty="0" err="1"/>
              <a:t>pinza</a:t>
            </a:r>
            <a:endParaRPr lang="en-US" dirty="0"/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17D738EC-54D9-44CB-EC13-C64142E3F0F4}"/>
              </a:ext>
            </a:extLst>
          </p:cNvPr>
          <p:cNvCxnSpPr>
            <a:cxnSpLocks/>
          </p:cNvCxnSpPr>
          <p:nvPr/>
        </p:nvCxnSpPr>
        <p:spPr>
          <a:xfrm>
            <a:off x="6227480" y="4309309"/>
            <a:ext cx="863125" cy="0"/>
          </a:xfrm>
          <a:prstGeom prst="straightConnector1">
            <a:avLst/>
          </a:prstGeom>
          <a:ln w="57150">
            <a:solidFill>
              <a:srgbClr val="FFC000"/>
            </a:solidFill>
            <a:prstDash val="sysDot"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2B18D40B-D773-D718-DF6A-02B704F94DB2}"/>
              </a:ext>
            </a:extLst>
          </p:cNvPr>
          <p:cNvCxnSpPr>
            <a:cxnSpLocks/>
            <a:stCxn id="42" idx="2"/>
          </p:cNvCxnSpPr>
          <p:nvPr/>
        </p:nvCxnSpPr>
        <p:spPr>
          <a:xfrm>
            <a:off x="5615226" y="1291882"/>
            <a:ext cx="1821400" cy="388671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>
            <a:extLst>
              <a:ext uri="{FF2B5EF4-FFF2-40B4-BE49-F238E27FC236}">
                <a16:creationId xmlns:a16="http://schemas.microsoft.com/office/drawing/2014/main" id="{020ECCD0-74D5-86DB-B74A-59D22E50327A}"/>
              </a:ext>
            </a:extLst>
          </p:cNvPr>
          <p:cNvSpPr txBox="1"/>
          <p:nvPr/>
        </p:nvSpPr>
        <p:spPr>
          <a:xfrm>
            <a:off x="1278539" y="1136250"/>
            <a:ext cx="1519455" cy="646331"/>
          </a:xfrm>
          <a:prstGeom prst="rect">
            <a:avLst/>
          </a:prstGeom>
          <a:noFill/>
          <a:ln w="28575">
            <a:solidFill>
              <a:srgbClr val="47D45A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 err="1"/>
              <a:t>Motore</a:t>
            </a:r>
            <a:r>
              <a:rPr lang="en-US" b="1" dirty="0"/>
              <a:t> 4</a:t>
            </a:r>
            <a:r>
              <a:rPr lang="en-US" dirty="0"/>
              <a:t>: </a:t>
            </a:r>
          </a:p>
          <a:p>
            <a:r>
              <a:rPr lang="en-US" dirty="0" err="1"/>
              <a:t>piega</a:t>
            </a:r>
            <a:r>
              <a:rPr lang="en-US" dirty="0"/>
              <a:t> braccio</a:t>
            </a:r>
          </a:p>
        </p:txBody>
      </p: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19AAAA0F-0C6F-369C-05CC-6420DDA7B0C2}"/>
              </a:ext>
            </a:extLst>
          </p:cNvPr>
          <p:cNvCxnSpPr>
            <a:cxnSpLocks/>
            <a:stCxn id="58" idx="2"/>
          </p:cNvCxnSpPr>
          <p:nvPr/>
        </p:nvCxnSpPr>
        <p:spPr>
          <a:xfrm>
            <a:off x="2038267" y="1782581"/>
            <a:ext cx="1189606" cy="1430258"/>
          </a:xfrm>
          <a:prstGeom prst="straightConnector1">
            <a:avLst/>
          </a:prstGeom>
          <a:ln w="19050">
            <a:solidFill>
              <a:srgbClr val="47D4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6352553A-D0DA-C23B-7B2D-AD4BFF69C42A}"/>
              </a:ext>
            </a:extLst>
          </p:cNvPr>
          <p:cNvCxnSpPr>
            <a:cxnSpLocks/>
            <a:stCxn id="5" idx="1"/>
          </p:cNvCxnSpPr>
          <p:nvPr/>
        </p:nvCxnSpPr>
        <p:spPr>
          <a:xfrm flipH="1" flipV="1">
            <a:off x="1017284" y="5968708"/>
            <a:ext cx="658596" cy="444743"/>
          </a:xfrm>
          <a:prstGeom prst="straightConnector1">
            <a:avLst/>
          </a:prstGeom>
          <a:ln w="19050">
            <a:solidFill>
              <a:srgbClr val="00B0F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D91CA3FE-92D3-F89A-5A4F-5AEC0099A715}"/>
              </a:ext>
            </a:extLst>
          </p:cNvPr>
          <p:cNvSpPr txBox="1"/>
          <p:nvPr/>
        </p:nvSpPr>
        <p:spPr>
          <a:xfrm>
            <a:off x="3879584" y="5330563"/>
            <a:ext cx="1519455" cy="64633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 err="1"/>
              <a:t>Motore</a:t>
            </a:r>
            <a:r>
              <a:rPr lang="en-US" b="1" dirty="0"/>
              <a:t> 2</a:t>
            </a:r>
            <a:r>
              <a:rPr lang="en-US" dirty="0"/>
              <a:t>: </a:t>
            </a:r>
          </a:p>
          <a:p>
            <a:r>
              <a:rPr lang="en-US" dirty="0" err="1"/>
              <a:t>piega</a:t>
            </a:r>
            <a:r>
              <a:rPr lang="en-US" dirty="0"/>
              <a:t> braccio</a:t>
            </a: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267FFE3E-D5CB-F1D6-E6AC-687D1431D404}"/>
              </a:ext>
            </a:extLst>
          </p:cNvPr>
          <p:cNvCxnSpPr>
            <a:cxnSpLocks/>
            <a:stCxn id="32" idx="0"/>
          </p:cNvCxnSpPr>
          <p:nvPr/>
        </p:nvCxnSpPr>
        <p:spPr>
          <a:xfrm flipV="1">
            <a:off x="4639312" y="4740872"/>
            <a:ext cx="14149" cy="589691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3D9BF354-4C9F-9C7D-940B-9ED110628076}"/>
              </a:ext>
            </a:extLst>
          </p:cNvPr>
          <p:cNvCxnSpPr>
            <a:cxnSpLocks/>
            <a:stCxn id="32" idx="1"/>
          </p:cNvCxnSpPr>
          <p:nvPr/>
        </p:nvCxnSpPr>
        <p:spPr>
          <a:xfrm flipH="1" flipV="1">
            <a:off x="771525" y="4988477"/>
            <a:ext cx="3108059" cy="665252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2" name="TextBox 1031">
            <a:extLst>
              <a:ext uri="{FF2B5EF4-FFF2-40B4-BE49-F238E27FC236}">
                <a16:creationId xmlns:a16="http://schemas.microsoft.com/office/drawing/2014/main" id="{5F3897F2-5FD8-F3F7-25E7-0887E4011DCA}"/>
              </a:ext>
            </a:extLst>
          </p:cNvPr>
          <p:cNvSpPr txBox="1"/>
          <p:nvPr/>
        </p:nvSpPr>
        <p:spPr>
          <a:xfrm>
            <a:off x="9036553" y="5655613"/>
            <a:ext cx="1341586" cy="646331"/>
          </a:xfrm>
          <a:prstGeom prst="rect">
            <a:avLst/>
          </a:prstGeom>
          <a:noFill/>
          <a:ln w="28575">
            <a:solidFill>
              <a:srgbClr val="FFC000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 err="1"/>
              <a:t>Motore</a:t>
            </a:r>
            <a:r>
              <a:rPr lang="en-US" b="1" dirty="0"/>
              <a:t> 5</a:t>
            </a:r>
            <a:r>
              <a:rPr lang="en-US" dirty="0"/>
              <a:t>:</a:t>
            </a:r>
          </a:p>
          <a:p>
            <a:r>
              <a:rPr lang="en-US" dirty="0" err="1"/>
              <a:t>ruota</a:t>
            </a:r>
            <a:r>
              <a:rPr lang="en-US" dirty="0"/>
              <a:t> </a:t>
            </a:r>
            <a:r>
              <a:rPr lang="en-US" dirty="0" err="1"/>
              <a:t>pinza</a:t>
            </a:r>
            <a:endParaRPr lang="en-US" dirty="0"/>
          </a:p>
        </p:txBody>
      </p:sp>
      <p:cxnSp>
        <p:nvCxnSpPr>
          <p:cNvPr id="1037" name="Straight Arrow Connector 1036">
            <a:extLst>
              <a:ext uri="{FF2B5EF4-FFF2-40B4-BE49-F238E27FC236}">
                <a16:creationId xmlns:a16="http://schemas.microsoft.com/office/drawing/2014/main" id="{B433DCBE-0FFD-3065-3D25-CBB5866B44AF}"/>
              </a:ext>
            </a:extLst>
          </p:cNvPr>
          <p:cNvCxnSpPr>
            <a:cxnSpLocks/>
            <a:stCxn id="1032" idx="0"/>
          </p:cNvCxnSpPr>
          <p:nvPr/>
        </p:nvCxnSpPr>
        <p:spPr>
          <a:xfrm flipH="1" flipV="1">
            <a:off x="7032905" y="4411466"/>
            <a:ext cx="2674441" cy="1244147"/>
          </a:xfrm>
          <a:prstGeom prst="straightConnector1">
            <a:avLst/>
          </a:prstGeom>
          <a:ln w="19050"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8" name="Straight Arrow Connector 1047">
            <a:extLst>
              <a:ext uri="{FF2B5EF4-FFF2-40B4-BE49-F238E27FC236}">
                <a16:creationId xmlns:a16="http://schemas.microsoft.com/office/drawing/2014/main" id="{067A10AC-2F4A-7386-81A1-71ED06ED3901}"/>
              </a:ext>
            </a:extLst>
          </p:cNvPr>
          <p:cNvCxnSpPr>
            <a:cxnSpLocks/>
            <a:stCxn id="39" idx="1"/>
          </p:cNvCxnSpPr>
          <p:nvPr/>
        </p:nvCxnSpPr>
        <p:spPr>
          <a:xfrm flipH="1">
            <a:off x="7224678" y="1009681"/>
            <a:ext cx="1671728" cy="2337869"/>
          </a:xfrm>
          <a:prstGeom prst="straightConnector1">
            <a:avLst/>
          </a:prstGeom>
          <a:ln w="19050">
            <a:solidFill>
              <a:srgbClr val="00B0F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9" name="Straight Arrow Connector 1048">
            <a:extLst>
              <a:ext uri="{FF2B5EF4-FFF2-40B4-BE49-F238E27FC236}">
                <a16:creationId xmlns:a16="http://schemas.microsoft.com/office/drawing/2014/main" id="{4C0F1126-B3A6-4CA3-3D46-260757E60308}"/>
              </a:ext>
            </a:extLst>
          </p:cNvPr>
          <p:cNvCxnSpPr>
            <a:cxnSpLocks/>
            <a:stCxn id="39" idx="1"/>
          </p:cNvCxnSpPr>
          <p:nvPr/>
        </p:nvCxnSpPr>
        <p:spPr>
          <a:xfrm flipH="1">
            <a:off x="8392557" y="1009681"/>
            <a:ext cx="503849" cy="2216369"/>
          </a:xfrm>
          <a:prstGeom prst="straightConnector1">
            <a:avLst/>
          </a:prstGeom>
          <a:ln w="19050">
            <a:solidFill>
              <a:srgbClr val="00B0F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7" name="Straight Arrow Connector 1066">
            <a:extLst>
              <a:ext uri="{FF2B5EF4-FFF2-40B4-BE49-F238E27FC236}">
                <a16:creationId xmlns:a16="http://schemas.microsoft.com/office/drawing/2014/main" id="{F97C0BE4-BF91-0CC5-B9A1-EB4A11F644C6}"/>
              </a:ext>
            </a:extLst>
          </p:cNvPr>
          <p:cNvCxnSpPr>
            <a:cxnSpLocks/>
            <a:stCxn id="58" idx="2"/>
          </p:cNvCxnSpPr>
          <p:nvPr/>
        </p:nvCxnSpPr>
        <p:spPr>
          <a:xfrm flipH="1">
            <a:off x="748793" y="1782581"/>
            <a:ext cx="1289474" cy="662256"/>
          </a:xfrm>
          <a:prstGeom prst="straightConnector1">
            <a:avLst/>
          </a:prstGeom>
          <a:ln w="19050">
            <a:solidFill>
              <a:srgbClr val="47D4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0" name="TextBox 1069">
            <a:extLst>
              <a:ext uri="{FF2B5EF4-FFF2-40B4-BE49-F238E27FC236}">
                <a16:creationId xmlns:a16="http://schemas.microsoft.com/office/drawing/2014/main" id="{EC439540-161C-E341-2A64-89ACCE28972E}"/>
              </a:ext>
            </a:extLst>
          </p:cNvPr>
          <p:cNvSpPr txBox="1"/>
          <p:nvPr/>
        </p:nvSpPr>
        <p:spPr>
          <a:xfrm>
            <a:off x="1136509" y="3057591"/>
            <a:ext cx="1186066" cy="923330"/>
          </a:xfrm>
          <a:prstGeom prst="rect">
            <a:avLst/>
          </a:prstGeom>
          <a:noFill/>
          <a:ln w="28575">
            <a:solidFill>
              <a:srgbClr val="FFC000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 err="1"/>
              <a:t>Motore</a:t>
            </a:r>
            <a:r>
              <a:rPr lang="en-US" b="1" dirty="0"/>
              <a:t> 3</a:t>
            </a:r>
            <a:r>
              <a:rPr lang="en-US" dirty="0"/>
              <a:t>: </a:t>
            </a:r>
          </a:p>
          <a:p>
            <a:r>
              <a:rPr lang="en-US" dirty="0" err="1"/>
              <a:t>piega</a:t>
            </a:r>
            <a:r>
              <a:rPr lang="en-US" dirty="0"/>
              <a:t> braccio</a:t>
            </a:r>
          </a:p>
        </p:txBody>
      </p:sp>
      <p:cxnSp>
        <p:nvCxnSpPr>
          <p:cNvPr id="1071" name="Straight Arrow Connector 1070">
            <a:extLst>
              <a:ext uri="{FF2B5EF4-FFF2-40B4-BE49-F238E27FC236}">
                <a16:creationId xmlns:a16="http://schemas.microsoft.com/office/drawing/2014/main" id="{8F67150C-481E-FA0C-66A8-8C4C8C4E6FFD}"/>
              </a:ext>
            </a:extLst>
          </p:cNvPr>
          <p:cNvCxnSpPr>
            <a:cxnSpLocks/>
            <a:stCxn id="1070" idx="3"/>
          </p:cNvCxnSpPr>
          <p:nvPr/>
        </p:nvCxnSpPr>
        <p:spPr>
          <a:xfrm>
            <a:off x="2322575" y="3519256"/>
            <a:ext cx="1178786" cy="113283"/>
          </a:xfrm>
          <a:prstGeom prst="straightConnector1">
            <a:avLst/>
          </a:prstGeom>
          <a:ln w="19050"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4" name="Straight Arrow Connector 1073">
            <a:extLst>
              <a:ext uri="{FF2B5EF4-FFF2-40B4-BE49-F238E27FC236}">
                <a16:creationId xmlns:a16="http://schemas.microsoft.com/office/drawing/2014/main" id="{2192BFC1-1214-222A-6E2A-0B110541121C}"/>
              </a:ext>
            </a:extLst>
          </p:cNvPr>
          <p:cNvCxnSpPr>
            <a:cxnSpLocks/>
            <a:stCxn id="1070" idx="1"/>
          </p:cNvCxnSpPr>
          <p:nvPr/>
        </p:nvCxnSpPr>
        <p:spPr>
          <a:xfrm flipH="1">
            <a:off x="748793" y="3519256"/>
            <a:ext cx="387716" cy="187024"/>
          </a:xfrm>
          <a:prstGeom prst="straightConnector1">
            <a:avLst/>
          </a:prstGeom>
          <a:ln w="19050"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>
            <a:extLst>
              <a:ext uri="{FF2B5EF4-FFF2-40B4-BE49-F238E27FC236}">
                <a16:creationId xmlns:a16="http://schemas.microsoft.com/office/drawing/2014/main" id="{593A3BB0-91DC-96F6-70C0-F75B81CF6167}"/>
              </a:ext>
            </a:extLst>
          </p:cNvPr>
          <p:cNvSpPr txBox="1"/>
          <p:nvPr/>
        </p:nvSpPr>
        <p:spPr>
          <a:xfrm>
            <a:off x="5047389" y="6090285"/>
            <a:ext cx="1747041" cy="646331"/>
          </a:xfrm>
          <a:prstGeom prst="rect">
            <a:avLst/>
          </a:prstGeom>
          <a:noFill/>
          <a:ln w="28575">
            <a:solidFill>
              <a:schemeClr val="accent3">
                <a:lumMod val="60000"/>
                <a:lumOff val="4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Blocca/</a:t>
            </a:r>
            <a:r>
              <a:rPr lang="en-US" dirty="0" err="1"/>
              <a:t>sblocca</a:t>
            </a:r>
            <a:r>
              <a:rPr lang="en-US" dirty="0"/>
              <a:t> braccio</a:t>
            </a:r>
          </a:p>
        </p:txBody>
      </p:sp>
      <p:cxnSp>
        <p:nvCxnSpPr>
          <p:cNvPr id="6" name="Connector: Elbow 5">
            <a:extLst>
              <a:ext uri="{FF2B5EF4-FFF2-40B4-BE49-F238E27FC236}">
                <a16:creationId xmlns:a16="http://schemas.microsoft.com/office/drawing/2014/main" id="{00DC4F73-9150-8A76-7C32-2984F4CCC9EA}"/>
              </a:ext>
            </a:extLst>
          </p:cNvPr>
          <p:cNvCxnSpPr>
            <a:cxnSpLocks/>
            <a:stCxn id="1032" idx="0"/>
          </p:cNvCxnSpPr>
          <p:nvPr/>
        </p:nvCxnSpPr>
        <p:spPr>
          <a:xfrm rot="16200000" flipV="1">
            <a:off x="3343121" y="-708613"/>
            <a:ext cx="3792630" cy="8935821"/>
          </a:xfrm>
          <a:prstGeom prst="bentConnector2">
            <a:avLst/>
          </a:prstGeom>
          <a:ln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29D3D04D-5022-1413-C8E4-3B10FDFF2BA1}"/>
              </a:ext>
            </a:extLst>
          </p:cNvPr>
          <p:cNvCxnSpPr>
            <a:cxnSpLocks/>
            <a:stCxn id="56" idx="0"/>
          </p:cNvCxnSpPr>
          <p:nvPr/>
        </p:nvCxnSpPr>
        <p:spPr>
          <a:xfrm flipV="1">
            <a:off x="5920910" y="3290136"/>
            <a:ext cx="223317" cy="2800149"/>
          </a:xfrm>
          <a:prstGeom prst="straightConnector1">
            <a:avLst/>
          </a:prstGeom>
          <a:ln w="19050">
            <a:solidFill>
              <a:schemeClr val="accent3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>
            <a:extLst>
              <a:ext uri="{FF2B5EF4-FFF2-40B4-BE49-F238E27FC236}">
                <a16:creationId xmlns:a16="http://schemas.microsoft.com/office/drawing/2014/main" id="{1BFD660C-756E-F6AA-ED34-807C367921DF}"/>
              </a:ext>
            </a:extLst>
          </p:cNvPr>
          <p:cNvSpPr txBox="1"/>
          <p:nvPr/>
        </p:nvSpPr>
        <p:spPr>
          <a:xfrm>
            <a:off x="1590675" y="0"/>
            <a:ext cx="713817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2800" b="1" noProof="0" dirty="0"/>
              <a:t>Modalità controllato da utente (Braccio FK)</a:t>
            </a:r>
          </a:p>
        </p:txBody>
      </p:sp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769460FB-3F28-8ED5-7E73-7D898ED48F2F}"/>
              </a:ext>
            </a:extLst>
          </p:cNvPr>
          <p:cNvCxnSpPr>
            <a:cxnSpLocks/>
            <a:stCxn id="39" idx="1"/>
          </p:cNvCxnSpPr>
          <p:nvPr/>
        </p:nvCxnSpPr>
        <p:spPr>
          <a:xfrm flipH="1">
            <a:off x="7608094" y="1009681"/>
            <a:ext cx="1288312" cy="1611357"/>
          </a:xfrm>
          <a:prstGeom prst="straightConnector1">
            <a:avLst/>
          </a:prstGeom>
          <a:ln w="19050">
            <a:solidFill>
              <a:srgbClr val="00B0F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2D6C8F29-E21F-944C-1206-12BD988B658F}"/>
              </a:ext>
            </a:extLst>
          </p:cNvPr>
          <p:cNvCxnSpPr>
            <a:cxnSpLocks/>
            <a:stCxn id="39" idx="1"/>
          </p:cNvCxnSpPr>
          <p:nvPr/>
        </p:nvCxnSpPr>
        <p:spPr>
          <a:xfrm flipH="1">
            <a:off x="7691215" y="1009681"/>
            <a:ext cx="1205191" cy="2622270"/>
          </a:xfrm>
          <a:prstGeom prst="straightConnector1">
            <a:avLst/>
          </a:prstGeom>
          <a:ln w="19050">
            <a:solidFill>
              <a:srgbClr val="00B0F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14F3A350-D53F-17D6-2B10-7264F5DD512A}"/>
              </a:ext>
            </a:extLst>
          </p:cNvPr>
          <p:cNvSpPr txBox="1"/>
          <p:nvPr/>
        </p:nvSpPr>
        <p:spPr>
          <a:xfrm>
            <a:off x="9790468" y="2017888"/>
            <a:ext cx="2357391" cy="1754326"/>
          </a:xfrm>
          <a:prstGeom prst="rect">
            <a:avLst/>
          </a:prstGeom>
          <a:noFill/>
          <a:ln w="28575">
            <a:solidFill>
              <a:srgbClr val="00B0F0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 err="1"/>
              <a:t>Posizioni</a:t>
            </a:r>
            <a:r>
              <a:rPr lang="en-US" dirty="0"/>
              <a:t> </a:t>
            </a:r>
            <a:r>
              <a:rPr lang="en-US" dirty="0" err="1"/>
              <a:t>preregistrate</a:t>
            </a:r>
            <a:r>
              <a:rPr lang="en-US" dirty="0"/>
              <a:t> (</a:t>
            </a:r>
            <a:r>
              <a:rPr lang="en-US" dirty="0" err="1"/>
              <a:t>sovrascrivibili</a:t>
            </a:r>
            <a:r>
              <a:rPr lang="en-US" dirty="0"/>
              <a:t>):</a:t>
            </a:r>
          </a:p>
          <a:p>
            <a:r>
              <a:rPr lang="en-US" dirty="0"/>
              <a:t>- </a:t>
            </a:r>
            <a:r>
              <a:rPr lang="en-US" b="1" dirty="0"/>
              <a:t>A</a:t>
            </a:r>
            <a:r>
              <a:rPr lang="en-US" dirty="0"/>
              <a:t>: </a:t>
            </a:r>
            <a:r>
              <a:rPr lang="en-US" dirty="0" err="1"/>
              <a:t>verticale</a:t>
            </a:r>
            <a:endParaRPr lang="en-US" dirty="0"/>
          </a:p>
          <a:p>
            <a:r>
              <a:rPr lang="en-US" dirty="0"/>
              <a:t>- </a:t>
            </a:r>
            <a:r>
              <a:rPr lang="en-US" b="1" dirty="0"/>
              <a:t>B</a:t>
            </a:r>
            <a:r>
              <a:rPr lang="en-US" dirty="0"/>
              <a:t>: </a:t>
            </a:r>
            <a:r>
              <a:rPr lang="en-US" dirty="0" err="1"/>
              <a:t>ripiegato</a:t>
            </a:r>
            <a:endParaRPr lang="en-US" dirty="0"/>
          </a:p>
          <a:p>
            <a:r>
              <a:rPr lang="en-US" dirty="0"/>
              <a:t>- </a:t>
            </a:r>
            <a:r>
              <a:rPr lang="en-US" b="1" dirty="0"/>
              <a:t>X</a:t>
            </a:r>
            <a:r>
              <a:rPr lang="en-US" dirty="0"/>
              <a:t>: in avanti</a:t>
            </a:r>
          </a:p>
          <a:p>
            <a:r>
              <a:rPr lang="en-US" dirty="0"/>
              <a:t>- </a:t>
            </a:r>
            <a:r>
              <a:rPr lang="en-US" b="1" dirty="0"/>
              <a:t>Y</a:t>
            </a:r>
            <a:r>
              <a:rPr lang="en-US" dirty="0"/>
              <a:t>: libero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926C7D58-5C97-F092-F981-53D98FAD6866}"/>
              </a:ext>
            </a:extLst>
          </p:cNvPr>
          <p:cNvCxnSpPr>
            <a:cxnSpLocks/>
            <a:endCxn id="12" idx="0"/>
          </p:cNvCxnSpPr>
          <p:nvPr/>
        </p:nvCxnSpPr>
        <p:spPr>
          <a:xfrm>
            <a:off x="10969163" y="1748345"/>
            <a:ext cx="1" cy="269543"/>
          </a:xfrm>
          <a:prstGeom prst="straightConnector1">
            <a:avLst/>
          </a:prstGeom>
          <a:ln w="19050">
            <a:solidFill>
              <a:srgbClr val="00B0F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8B1D890B-2FD2-AC6D-1926-8ACCEB2BF64E}"/>
              </a:ext>
            </a:extLst>
          </p:cNvPr>
          <p:cNvCxnSpPr>
            <a:cxnSpLocks/>
            <a:stCxn id="42" idx="2"/>
          </p:cNvCxnSpPr>
          <p:nvPr/>
        </p:nvCxnSpPr>
        <p:spPr>
          <a:xfrm flipH="1">
            <a:off x="3821802" y="1291882"/>
            <a:ext cx="1793424" cy="388671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6791A4D5-FADC-CF78-7BFE-F690A69E2C73}"/>
              </a:ext>
            </a:extLst>
          </p:cNvPr>
          <p:cNvCxnSpPr>
            <a:cxnSpLocks/>
            <a:stCxn id="42" idx="1"/>
          </p:cNvCxnSpPr>
          <p:nvPr/>
        </p:nvCxnSpPr>
        <p:spPr>
          <a:xfrm flipH="1">
            <a:off x="771525" y="968717"/>
            <a:ext cx="3999848" cy="103945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4301276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A2BBA3-CBA3-ADEC-6317-8062AF955B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img">
            <a:extLst>
              <a:ext uri="{FF2B5EF4-FFF2-40B4-BE49-F238E27FC236}">
                <a16:creationId xmlns:a16="http://schemas.microsoft.com/office/drawing/2014/main" id="{2D3F85E6-0466-9F07-B5C3-CCFA8299662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9571" t="22324" r="129" b="50389"/>
          <a:stretch/>
        </p:blipFill>
        <p:spPr bwMode="auto">
          <a:xfrm rot="16200000">
            <a:off x="-262236" y="674668"/>
            <a:ext cx="1842732" cy="13030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Picture 2" descr="OSTENT Cablato Analogico Controller Gamepad Joystick Joypad per Sony  Playstation PS2 PS1 PS One PSX Console Dual Shock Vibration Video Games :  ...">
            <a:extLst>
              <a:ext uri="{FF2B5EF4-FFF2-40B4-BE49-F238E27FC236}">
                <a16:creationId xmlns:a16="http://schemas.microsoft.com/office/drawing/2014/main" id="{53CDE7B3-035A-41A0-A6A2-DB5DD6B6784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888" b="29584"/>
          <a:stretch/>
        </p:blipFill>
        <p:spPr bwMode="auto">
          <a:xfrm>
            <a:off x="2190750" y="1680553"/>
            <a:ext cx="6858000" cy="42881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1FF10FFB-C8BA-3CDC-4A2D-7243AAF0B465}"/>
              </a:ext>
            </a:extLst>
          </p:cNvPr>
          <p:cNvCxnSpPr>
            <a:cxnSpLocks/>
          </p:cNvCxnSpPr>
          <p:nvPr/>
        </p:nvCxnSpPr>
        <p:spPr>
          <a:xfrm>
            <a:off x="4166075" y="4309309"/>
            <a:ext cx="863125" cy="0"/>
          </a:xfrm>
          <a:prstGeom prst="straightConnector1">
            <a:avLst/>
          </a:prstGeom>
          <a:ln w="57150">
            <a:solidFill>
              <a:srgbClr val="00B0F0"/>
            </a:solidFill>
            <a:prstDash val="sysDot"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8C17003F-81D7-2C12-24B8-FD20561EB9B1}"/>
              </a:ext>
            </a:extLst>
          </p:cNvPr>
          <p:cNvCxnSpPr>
            <a:cxnSpLocks/>
          </p:cNvCxnSpPr>
          <p:nvPr/>
        </p:nvCxnSpPr>
        <p:spPr>
          <a:xfrm rot="5400000">
            <a:off x="4166074" y="4309309"/>
            <a:ext cx="863125" cy="0"/>
          </a:xfrm>
          <a:prstGeom prst="straightConnector1">
            <a:avLst/>
          </a:prstGeom>
          <a:ln w="57150">
            <a:solidFill>
              <a:srgbClr val="47D45A"/>
            </a:solidFill>
            <a:prstDash val="sysDot"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BE7A7BA8-FD42-7F7F-C5E9-809B2F4B4942}"/>
              </a:ext>
            </a:extLst>
          </p:cNvPr>
          <p:cNvCxnSpPr>
            <a:cxnSpLocks/>
          </p:cNvCxnSpPr>
          <p:nvPr/>
        </p:nvCxnSpPr>
        <p:spPr>
          <a:xfrm rot="5400000">
            <a:off x="3160518" y="3289417"/>
            <a:ext cx="863125" cy="0"/>
          </a:xfrm>
          <a:prstGeom prst="straightConnector1">
            <a:avLst/>
          </a:prstGeom>
          <a:ln w="57150">
            <a:solidFill>
              <a:srgbClr val="FF0000"/>
            </a:solidFill>
            <a:prstDash val="sysDot"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E4D44EF0-A39D-8558-C2A4-40B0248CFE4F}"/>
              </a:ext>
            </a:extLst>
          </p:cNvPr>
          <p:cNvSpPr txBox="1"/>
          <p:nvPr/>
        </p:nvSpPr>
        <p:spPr>
          <a:xfrm>
            <a:off x="8896406" y="271017"/>
            <a:ext cx="3022329" cy="1477328"/>
          </a:xfrm>
          <a:prstGeom prst="rect">
            <a:avLst/>
          </a:prstGeom>
          <a:noFill/>
          <a:ln w="28575">
            <a:solidFill>
              <a:srgbClr val="47D45A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/>
              <a:t>Y/X</a:t>
            </a:r>
            <a:r>
              <a:rPr lang="en-US" b="1"/>
              <a:t>/B</a:t>
            </a:r>
            <a:r>
              <a:rPr lang="en-US"/>
              <a:t>: </a:t>
            </a:r>
            <a:r>
              <a:rPr lang="en-US" dirty="0" err="1"/>
              <a:t>premendo</a:t>
            </a:r>
            <a:r>
              <a:rPr lang="en-US" dirty="0"/>
              <a:t> per 2 secondi </a:t>
            </a:r>
            <a:r>
              <a:rPr lang="en-US" dirty="0" err="1"/>
              <a:t>memorizza</a:t>
            </a:r>
            <a:r>
              <a:rPr lang="en-US" dirty="0"/>
              <a:t> la </a:t>
            </a:r>
            <a:r>
              <a:rPr lang="en-US" dirty="0" err="1"/>
              <a:t>posizione</a:t>
            </a:r>
            <a:r>
              <a:rPr lang="en-US" dirty="0"/>
              <a:t> </a:t>
            </a:r>
            <a:r>
              <a:rPr lang="en-US" dirty="0" err="1"/>
              <a:t>attuale</a:t>
            </a:r>
            <a:r>
              <a:rPr lang="en-US" dirty="0"/>
              <a:t>. </a:t>
            </a:r>
            <a:r>
              <a:rPr lang="en-US" dirty="0" err="1"/>
              <a:t>Premendo</a:t>
            </a:r>
            <a:r>
              <a:rPr lang="en-US" dirty="0"/>
              <a:t> di nuovo porta il braccio </a:t>
            </a:r>
            <a:r>
              <a:rPr lang="en-US" dirty="0" err="1"/>
              <a:t>alla</a:t>
            </a:r>
            <a:r>
              <a:rPr lang="en-US" dirty="0"/>
              <a:t> </a:t>
            </a:r>
            <a:r>
              <a:rPr lang="en-US" dirty="0" err="1"/>
              <a:t>posizione</a:t>
            </a:r>
            <a:r>
              <a:rPr lang="en-US" dirty="0"/>
              <a:t> </a:t>
            </a:r>
            <a:r>
              <a:rPr lang="en-US" dirty="0" err="1"/>
              <a:t>memorizzata</a:t>
            </a:r>
            <a:endParaRPr lang="en-US" dirty="0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1CA96061-C019-4CE4-5BC4-92A34C7753E3}"/>
              </a:ext>
            </a:extLst>
          </p:cNvPr>
          <p:cNvSpPr txBox="1"/>
          <p:nvPr/>
        </p:nvSpPr>
        <p:spPr>
          <a:xfrm>
            <a:off x="6808158" y="6083163"/>
            <a:ext cx="2021088" cy="646331"/>
          </a:xfrm>
          <a:prstGeom prst="rect">
            <a:avLst/>
          </a:prstGeom>
          <a:noFill/>
          <a:ln w="28575">
            <a:solidFill>
              <a:srgbClr val="FFC000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/>
              <a:t>Motori 1-4</a:t>
            </a:r>
            <a:r>
              <a:rPr lang="en-US" dirty="0"/>
              <a:t>: </a:t>
            </a:r>
            <a:r>
              <a:rPr lang="en-US" dirty="0" err="1"/>
              <a:t>M</a:t>
            </a:r>
            <a:r>
              <a:rPr lang="en-US" baseline="-25000" dirty="0" err="1"/>
              <a:t>z</a:t>
            </a:r>
            <a:r>
              <a:rPr lang="en-US" dirty="0"/>
              <a:t> (</a:t>
            </a:r>
            <a:r>
              <a:rPr lang="en-US" dirty="0" err="1"/>
              <a:t>coordinata</a:t>
            </a:r>
            <a:r>
              <a:rPr lang="en-US" dirty="0"/>
              <a:t> z di M)</a:t>
            </a:r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F4FC8714-EDA9-FC9C-B52D-413CDB14DAD0}"/>
              </a:ext>
            </a:extLst>
          </p:cNvPr>
          <p:cNvCxnSpPr>
            <a:cxnSpLocks/>
          </p:cNvCxnSpPr>
          <p:nvPr/>
        </p:nvCxnSpPr>
        <p:spPr>
          <a:xfrm>
            <a:off x="6227480" y="4309309"/>
            <a:ext cx="863125" cy="0"/>
          </a:xfrm>
          <a:prstGeom prst="straightConnector1">
            <a:avLst/>
          </a:prstGeom>
          <a:ln w="57150">
            <a:solidFill>
              <a:srgbClr val="00B0F0"/>
            </a:solidFill>
            <a:prstDash val="sysDot"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D2BE756D-0B24-41CA-3622-ED4FAE5074A4}"/>
              </a:ext>
            </a:extLst>
          </p:cNvPr>
          <p:cNvCxnSpPr>
            <a:cxnSpLocks/>
            <a:stCxn id="42" idx="0"/>
          </p:cNvCxnSpPr>
          <p:nvPr/>
        </p:nvCxnSpPr>
        <p:spPr>
          <a:xfrm flipH="1" flipV="1">
            <a:off x="6810375" y="4629150"/>
            <a:ext cx="1008327" cy="1454013"/>
          </a:xfrm>
          <a:prstGeom prst="straightConnector1">
            <a:avLst/>
          </a:prstGeom>
          <a:ln w="19050"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06D1DEDA-E5C4-CA54-3DA2-CB74F5A58390}"/>
              </a:ext>
            </a:extLst>
          </p:cNvPr>
          <p:cNvCxnSpPr>
            <a:cxnSpLocks/>
          </p:cNvCxnSpPr>
          <p:nvPr/>
        </p:nvCxnSpPr>
        <p:spPr>
          <a:xfrm rot="5400000">
            <a:off x="6248068" y="4328572"/>
            <a:ext cx="863125" cy="0"/>
          </a:xfrm>
          <a:prstGeom prst="straightConnector1">
            <a:avLst/>
          </a:prstGeom>
          <a:ln w="57150">
            <a:solidFill>
              <a:srgbClr val="FFC000"/>
            </a:solidFill>
            <a:prstDash val="sysDot"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2" name="TextBox 1031">
            <a:extLst>
              <a:ext uri="{FF2B5EF4-FFF2-40B4-BE49-F238E27FC236}">
                <a16:creationId xmlns:a16="http://schemas.microsoft.com/office/drawing/2014/main" id="{5787B67C-E84D-F198-D728-61C374EEABD4}"/>
              </a:ext>
            </a:extLst>
          </p:cNvPr>
          <p:cNvSpPr txBox="1"/>
          <p:nvPr/>
        </p:nvSpPr>
        <p:spPr>
          <a:xfrm>
            <a:off x="9036553" y="5655613"/>
            <a:ext cx="1341586" cy="646331"/>
          </a:xfrm>
          <a:prstGeom prst="rect">
            <a:avLst/>
          </a:prstGeom>
          <a:noFill/>
          <a:ln w="28575">
            <a:solidFill>
              <a:srgbClr val="00B0F0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 err="1"/>
              <a:t>Motore</a:t>
            </a:r>
            <a:r>
              <a:rPr lang="en-US" b="1" dirty="0"/>
              <a:t> 5</a:t>
            </a:r>
            <a:r>
              <a:rPr lang="en-US" dirty="0"/>
              <a:t>:</a:t>
            </a:r>
          </a:p>
          <a:p>
            <a:r>
              <a:rPr lang="en-US" dirty="0" err="1"/>
              <a:t>ruota</a:t>
            </a:r>
            <a:r>
              <a:rPr lang="en-US" dirty="0"/>
              <a:t> </a:t>
            </a:r>
            <a:r>
              <a:rPr lang="en-US" dirty="0" err="1"/>
              <a:t>pinza</a:t>
            </a:r>
            <a:endParaRPr lang="en-US" dirty="0"/>
          </a:p>
        </p:txBody>
      </p:sp>
      <p:cxnSp>
        <p:nvCxnSpPr>
          <p:cNvPr id="1037" name="Straight Arrow Connector 1036">
            <a:extLst>
              <a:ext uri="{FF2B5EF4-FFF2-40B4-BE49-F238E27FC236}">
                <a16:creationId xmlns:a16="http://schemas.microsoft.com/office/drawing/2014/main" id="{E7EEBB02-9E28-0179-687D-994B24576DBE}"/>
              </a:ext>
            </a:extLst>
          </p:cNvPr>
          <p:cNvCxnSpPr>
            <a:cxnSpLocks/>
            <a:stCxn id="1032" idx="0"/>
          </p:cNvCxnSpPr>
          <p:nvPr/>
        </p:nvCxnSpPr>
        <p:spPr>
          <a:xfrm flipH="1" flipV="1">
            <a:off x="7032905" y="4411466"/>
            <a:ext cx="2674441" cy="1244147"/>
          </a:xfrm>
          <a:prstGeom prst="straightConnector1">
            <a:avLst/>
          </a:prstGeom>
          <a:ln w="19050">
            <a:solidFill>
              <a:srgbClr val="00B0F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8" name="Straight Arrow Connector 1047">
            <a:extLst>
              <a:ext uri="{FF2B5EF4-FFF2-40B4-BE49-F238E27FC236}">
                <a16:creationId xmlns:a16="http://schemas.microsoft.com/office/drawing/2014/main" id="{7018E026-B2AF-2A76-0B78-E95630ED4E3B}"/>
              </a:ext>
            </a:extLst>
          </p:cNvPr>
          <p:cNvCxnSpPr>
            <a:cxnSpLocks/>
            <a:stCxn id="39" idx="1"/>
          </p:cNvCxnSpPr>
          <p:nvPr/>
        </p:nvCxnSpPr>
        <p:spPr>
          <a:xfrm flipH="1">
            <a:off x="7224678" y="1009681"/>
            <a:ext cx="1671728" cy="2337869"/>
          </a:xfrm>
          <a:prstGeom prst="straightConnector1">
            <a:avLst/>
          </a:prstGeom>
          <a:ln w="19050">
            <a:solidFill>
              <a:schemeClr val="accent3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9" name="Straight Arrow Connector 1048">
            <a:extLst>
              <a:ext uri="{FF2B5EF4-FFF2-40B4-BE49-F238E27FC236}">
                <a16:creationId xmlns:a16="http://schemas.microsoft.com/office/drawing/2014/main" id="{F93DCBCC-F7F4-559F-68E3-900C763437A1}"/>
              </a:ext>
            </a:extLst>
          </p:cNvPr>
          <p:cNvCxnSpPr>
            <a:cxnSpLocks/>
            <a:stCxn id="39" idx="1"/>
          </p:cNvCxnSpPr>
          <p:nvPr/>
        </p:nvCxnSpPr>
        <p:spPr>
          <a:xfrm flipH="1">
            <a:off x="8392557" y="1009681"/>
            <a:ext cx="503849" cy="2216369"/>
          </a:xfrm>
          <a:prstGeom prst="straightConnector1">
            <a:avLst/>
          </a:prstGeom>
          <a:ln w="19050">
            <a:solidFill>
              <a:schemeClr val="accent3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>
            <a:extLst>
              <a:ext uri="{FF2B5EF4-FFF2-40B4-BE49-F238E27FC236}">
                <a16:creationId xmlns:a16="http://schemas.microsoft.com/office/drawing/2014/main" id="{994B25EE-1E59-E636-E859-86BCF00D0C46}"/>
              </a:ext>
            </a:extLst>
          </p:cNvPr>
          <p:cNvSpPr txBox="1"/>
          <p:nvPr/>
        </p:nvSpPr>
        <p:spPr>
          <a:xfrm>
            <a:off x="4782212" y="5191711"/>
            <a:ext cx="1747041" cy="64633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Blocca/</a:t>
            </a:r>
            <a:r>
              <a:rPr lang="en-US" dirty="0" err="1"/>
              <a:t>sblocca</a:t>
            </a:r>
            <a:r>
              <a:rPr lang="en-US" dirty="0"/>
              <a:t> braccio</a:t>
            </a:r>
          </a:p>
        </p:txBody>
      </p:sp>
      <p:cxnSp>
        <p:nvCxnSpPr>
          <p:cNvPr id="6" name="Connector: Elbow 5">
            <a:extLst>
              <a:ext uri="{FF2B5EF4-FFF2-40B4-BE49-F238E27FC236}">
                <a16:creationId xmlns:a16="http://schemas.microsoft.com/office/drawing/2014/main" id="{B8F6BDA8-0275-BAFE-031C-8A994397F9B5}"/>
              </a:ext>
            </a:extLst>
          </p:cNvPr>
          <p:cNvCxnSpPr>
            <a:cxnSpLocks/>
            <a:stCxn id="1032" idx="0"/>
          </p:cNvCxnSpPr>
          <p:nvPr/>
        </p:nvCxnSpPr>
        <p:spPr>
          <a:xfrm rot="16200000" flipV="1">
            <a:off x="3343121" y="-708613"/>
            <a:ext cx="3792630" cy="8935821"/>
          </a:xfrm>
          <a:prstGeom prst="bentConnector2">
            <a:avLst/>
          </a:prstGeom>
          <a:ln>
            <a:solidFill>
              <a:srgbClr val="00B0F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D1F86EE1-898D-44BE-33CB-CFABA368AD27}"/>
              </a:ext>
            </a:extLst>
          </p:cNvPr>
          <p:cNvCxnSpPr>
            <a:cxnSpLocks/>
            <a:stCxn id="56" idx="0"/>
          </p:cNvCxnSpPr>
          <p:nvPr/>
        </p:nvCxnSpPr>
        <p:spPr>
          <a:xfrm flipV="1">
            <a:off x="5655733" y="3347550"/>
            <a:ext cx="459874" cy="1844161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>
            <a:extLst>
              <a:ext uri="{FF2B5EF4-FFF2-40B4-BE49-F238E27FC236}">
                <a16:creationId xmlns:a16="http://schemas.microsoft.com/office/drawing/2014/main" id="{40AF30A9-817B-6F95-F133-81290A2EDF86}"/>
              </a:ext>
            </a:extLst>
          </p:cNvPr>
          <p:cNvSpPr txBox="1"/>
          <p:nvPr/>
        </p:nvSpPr>
        <p:spPr>
          <a:xfrm>
            <a:off x="1590675" y="0"/>
            <a:ext cx="713817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2800" b="1" noProof="0" dirty="0"/>
              <a:t>Modalità controllato da utente (Braccio IK)</a:t>
            </a:r>
          </a:p>
        </p:txBody>
      </p:sp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C6942EF1-455E-1ECE-7340-61B43055460A}"/>
              </a:ext>
            </a:extLst>
          </p:cNvPr>
          <p:cNvCxnSpPr>
            <a:cxnSpLocks/>
            <a:stCxn id="39" idx="1"/>
          </p:cNvCxnSpPr>
          <p:nvPr/>
        </p:nvCxnSpPr>
        <p:spPr>
          <a:xfrm flipH="1">
            <a:off x="7608094" y="1009681"/>
            <a:ext cx="1288312" cy="1611357"/>
          </a:xfrm>
          <a:prstGeom prst="straightConnector1">
            <a:avLst/>
          </a:prstGeom>
          <a:ln w="19050">
            <a:solidFill>
              <a:schemeClr val="accent3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652316EE-999A-ACA8-3D97-0D9DD01EC41F}"/>
              </a:ext>
            </a:extLst>
          </p:cNvPr>
          <p:cNvSpPr txBox="1"/>
          <p:nvPr/>
        </p:nvSpPr>
        <p:spPr>
          <a:xfrm>
            <a:off x="9790468" y="2017888"/>
            <a:ext cx="2357391" cy="1477328"/>
          </a:xfrm>
          <a:prstGeom prst="rect">
            <a:avLst/>
          </a:prstGeom>
          <a:noFill/>
          <a:ln w="28575">
            <a:solidFill>
              <a:srgbClr val="47D45A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 err="1"/>
              <a:t>Posizioni</a:t>
            </a:r>
            <a:r>
              <a:rPr lang="en-US" dirty="0"/>
              <a:t> </a:t>
            </a:r>
            <a:r>
              <a:rPr lang="en-US" dirty="0" err="1"/>
              <a:t>preregistrate</a:t>
            </a:r>
            <a:r>
              <a:rPr lang="en-US" dirty="0"/>
              <a:t> (</a:t>
            </a:r>
            <a:r>
              <a:rPr lang="en-US" dirty="0" err="1"/>
              <a:t>sovrascrivibili</a:t>
            </a:r>
            <a:r>
              <a:rPr lang="en-US" dirty="0"/>
              <a:t>):</a:t>
            </a:r>
          </a:p>
          <a:p>
            <a:r>
              <a:rPr lang="en-US" dirty="0"/>
              <a:t>- </a:t>
            </a:r>
            <a:r>
              <a:rPr lang="en-US" b="1" dirty="0"/>
              <a:t>B</a:t>
            </a:r>
            <a:r>
              <a:rPr lang="en-US" dirty="0"/>
              <a:t>: </a:t>
            </a:r>
            <a:r>
              <a:rPr lang="en-US" dirty="0" err="1"/>
              <a:t>ripiegato</a:t>
            </a:r>
            <a:endParaRPr lang="en-US" dirty="0"/>
          </a:p>
          <a:p>
            <a:r>
              <a:rPr lang="en-US" dirty="0"/>
              <a:t>- </a:t>
            </a:r>
            <a:r>
              <a:rPr lang="en-US" b="1" dirty="0"/>
              <a:t>X</a:t>
            </a:r>
            <a:r>
              <a:rPr lang="en-US" dirty="0"/>
              <a:t>: in avanti</a:t>
            </a:r>
          </a:p>
          <a:p>
            <a:r>
              <a:rPr lang="en-US" dirty="0"/>
              <a:t>- </a:t>
            </a:r>
            <a:r>
              <a:rPr lang="en-US" b="1" dirty="0"/>
              <a:t>Y</a:t>
            </a:r>
            <a:r>
              <a:rPr lang="en-US" dirty="0"/>
              <a:t>: </a:t>
            </a:r>
            <a:r>
              <a:rPr lang="en-US" dirty="0" err="1"/>
              <a:t>verticale</a:t>
            </a:r>
            <a:endParaRPr lang="en-US" dirty="0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27D30BF5-7D37-FC63-9C77-A80EDED8CF2C}"/>
              </a:ext>
            </a:extLst>
          </p:cNvPr>
          <p:cNvCxnSpPr>
            <a:cxnSpLocks/>
            <a:endCxn id="12" idx="0"/>
          </p:cNvCxnSpPr>
          <p:nvPr/>
        </p:nvCxnSpPr>
        <p:spPr>
          <a:xfrm>
            <a:off x="10969163" y="1748345"/>
            <a:ext cx="1" cy="269543"/>
          </a:xfrm>
          <a:prstGeom prst="straightConnector1">
            <a:avLst/>
          </a:prstGeom>
          <a:ln w="19050">
            <a:solidFill>
              <a:schemeClr val="accent3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1" name="Picture 2">
            <a:extLst>
              <a:ext uri="{FF2B5EF4-FFF2-40B4-BE49-F238E27FC236}">
                <a16:creationId xmlns:a16="http://schemas.microsoft.com/office/drawing/2014/main" id="{CA2D232C-0AFB-F76E-4787-B65819FF565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74" t="7630" r="3374" b="5046"/>
          <a:stretch/>
        </p:blipFill>
        <p:spPr bwMode="auto">
          <a:xfrm>
            <a:off x="8651" y="2573385"/>
            <a:ext cx="2341126" cy="20131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132225CD-6D66-31B9-08CA-77ADA17CD7FD}"/>
              </a:ext>
            </a:extLst>
          </p:cNvPr>
          <p:cNvSpPr txBox="1"/>
          <p:nvPr/>
        </p:nvSpPr>
        <p:spPr>
          <a:xfrm>
            <a:off x="1435371" y="6083163"/>
            <a:ext cx="2021089" cy="646331"/>
          </a:xfrm>
          <a:prstGeom prst="rect">
            <a:avLst/>
          </a:prstGeom>
          <a:noFill/>
          <a:ln w="28575">
            <a:solidFill>
              <a:srgbClr val="00B0F0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/>
              <a:t>Motori 1-4</a:t>
            </a:r>
            <a:r>
              <a:rPr lang="en-US" dirty="0"/>
              <a:t>: M</a:t>
            </a:r>
            <a:r>
              <a:rPr lang="en-US" baseline="-25000" dirty="0"/>
              <a:t>x</a:t>
            </a:r>
            <a:r>
              <a:rPr lang="en-US" dirty="0"/>
              <a:t> (</a:t>
            </a:r>
            <a:r>
              <a:rPr lang="en-US" dirty="0" err="1"/>
              <a:t>coordinata</a:t>
            </a:r>
            <a:r>
              <a:rPr lang="en-US" dirty="0"/>
              <a:t> x di M)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009DA354-154E-7096-C703-FB1D6DFA4E80}"/>
              </a:ext>
            </a:extLst>
          </p:cNvPr>
          <p:cNvCxnSpPr>
            <a:cxnSpLocks/>
            <a:stCxn id="22" idx="0"/>
          </p:cNvCxnSpPr>
          <p:nvPr/>
        </p:nvCxnSpPr>
        <p:spPr>
          <a:xfrm flipV="1">
            <a:off x="2445916" y="4411466"/>
            <a:ext cx="1789896" cy="1671697"/>
          </a:xfrm>
          <a:prstGeom prst="straightConnector1">
            <a:avLst/>
          </a:prstGeom>
          <a:ln w="19050">
            <a:solidFill>
              <a:srgbClr val="00B0F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C8B644E9-8AD6-0EC6-0CAB-6AB6ED58644B}"/>
              </a:ext>
            </a:extLst>
          </p:cNvPr>
          <p:cNvSpPr txBox="1"/>
          <p:nvPr/>
        </p:nvSpPr>
        <p:spPr>
          <a:xfrm>
            <a:off x="3717724" y="6118659"/>
            <a:ext cx="2021089" cy="646331"/>
          </a:xfrm>
          <a:prstGeom prst="rect">
            <a:avLst/>
          </a:prstGeom>
          <a:noFill/>
          <a:ln w="28575">
            <a:solidFill>
              <a:srgbClr val="47D45A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/>
              <a:t>Motori 1-4</a:t>
            </a:r>
            <a:r>
              <a:rPr lang="en-US" dirty="0"/>
              <a:t>: M</a:t>
            </a:r>
            <a:r>
              <a:rPr lang="en-US" baseline="-25000" dirty="0"/>
              <a:t>y</a:t>
            </a:r>
            <a:r>
              <a:rPr lang="en-US" dirty="0"/>
              <a:t> (</a:t>
            </a:r>
            <a:r>
              <a:rPr lang="en-US" dirty="0" err="1"/>
              <a:t>coordinata</a:t>
            </a:r>
            <a:r>
              <a:rPr lang="en-US" dirty="0"/>
              <a:t> y di M)</a:t>
            </a:r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EDD8639C-1AFE-DCC1-3E52-9359EAFEE57E}"/>
              </a:ext>
            </a:extLst>
          </p:cNvPr>
          <p:cNvCxnSpPr>
            <a:cxnSpLocks/>
            <a:stCxn id="34" idx="0"/>
          </p:cNvCxnSpPr>
          <p:nvPr/>
        </p:nvCxnSpPr>
        <p:spPr>
          <a:xfrm flipH="1" flipV="1">
            <a:off x="4609628" y="4793361"/>
            <a:ext cx="118641" cy="1325298"/>
          </a:xfrm>
          <a:prstGeom prst="straightConnector1">
            <a:avLst/>
          </a:prstGeom>
          <a:ln w="19050">
            <a:solidFill>
              <a:srgbClr val="47D4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9F29321D-1A8A-2519-A6E5-C16358C61329}"/>
              </a:ext>
            </a:extLst>
          </p:cNvPr>
          <p:cNvCxnSpPr>
            <a:cxnSpLocks/>
            <a:stCxn id="22" idx="0"/>
          </p:cNvCxnSpPr>
          <p:nvPr/>
        </p:nvCxnSpPr>
        <p:spPr>
          <a:xfrm flipH="1" flipV="1">
            <a:off x="1768305" y="3618273"/>
            <a:ext cx="677611" cy="2464890"/>
          </a:xfrm>
          <a:prstGeom prst="straightConnector1">
            <a:avLst/>
          </a:prstGeom>
          <a:ln w="19050">
            <a:solidFill>
              <a:srgbClr val="00B0F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478A030D-5004-23FE-F969-DBD4B2EB5F1E}"/>
              </a:ext>
            </a:extLst>
          </p:cNvPr>
          <p:cNvCxnSpPr>
            <a:cxnSpLocks/>
            <a:stCxn id="34" idx="0"/>
          </p:cNvCxnSpPr>
          <p:nvPr/>
        </p:nvCxnSpPr>
        <p:spPr>
          <a:xfrm flipH="1" flipV="1">
            <a:off x="831153" y="3850481"/>
            <a:ext cx="3897116" cy="2268178"/>
          </a:xfrm>
          <a:prstGeom prst="straightConnector1">
            <a:avLst/>
          </a:prstGeom>
          <a:ln w="19050">
            <a:solidFill>
              <a:srgbClr val="47D4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3" name="Connector: Elbow 1032">
            <a:extLst>
              <a:ext uri="{FF2B5EF4-FFF2-40B4-BE49-F238E27FC236}">
                <a16:creationId xmlns:a16="http://schemas.microsoft.com/office/drawing/2014/main" id="{46F1EFCE-52C4-167A-DDF7-B317C19DD8F2}"/>
              </a:ext>
            </a:extLst>
          </p:cNvPr>
          <p:cNvCxnSpPr>
            <a:cxnSpLocks/>
            <a:stCxn id="42" idx="0"/>
          </p:cNvCxnSpPr>
          <p:nvPr/>
        </p:nvCxnSpPr>
        <p:spPr>
          <a:xfrm rot="16200000" flipV="1">
            <a:off x="4002986" y="2267447"/>
            <a:ext cx="77650" cy="7553782"/>
          </a:xfrm>
          <a:prstGeom prst="bentConnector2">
            <a:avLst/>
          </a:prstGeom>
          <a:ln>
            <a:solidFill>
              <a:srgbClr val="FFC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2" name="Connector: Elbow 1051">
            <a:extLst>
              <a:ext uri="{FF2B5EF4-FFF2-40B4-BE49-F238E27FC236}">
                <a16:creationId xmlns:a16="http://schemas.microsoft.com/office/drawing/2014/main" id="{0F9A0EE5-67BC-ECB5-9CD8-56A3F5D740CE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-790273" y="4088909"/>
            <a:ext cx="2981324" cy="870934"/>
          </a:xfrm>
          <a:prstGeom prst="bentConnector3">
            <a:avLst>
              <a:gd name="adj1" fmla="val 100000"/>
            </a:avLst>
          </a:prstGeom>
          <a:ln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3" name="TextBox 1072">
            <a:extLst>
              <a:ext uri="{FF2B5EF4-FFF2-40B4-BE49-F238E27FC236}">
                <a16:creationId xmlns:a16="http://schemas.microsoft.com/office/drawing/2014/main" id="{08054C0F-CB8A-6EC0-9715-65EDAF3EF3CD}"/>
              </a:ext>
            </a:extLst>
          </p:cNvPr>
          <p:cNvSpPr txBox="1"/>
          <p:nvPr/>
        </p:nvSpPr>
        <p:spPr>
          <a:xfrm>
            <a:off x="405993" y="4823498"/>
            <a:ext cx="1583546" cy="923330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/>
              <a:t>M</a:t>
            </a:r>
            <a:r>
              <a:rPr lang="en-US" dirty="0"/>
              <a:t>: </a:t>
            </a:r>
            <a:r>
              <a:rPr lang="en-US" dirty="0" err="1"/>
              <a:t>posizione</a:t>
            </a:r>
            <a:r>
              <a:rPr lang="en-US" dirty="0"/>
              <a:t> </a:t>
            </a:r>
            <a:r>
              <a:rPr lang="en-US" dirty="0" err="1"/>
              <a:t>della</a:t>
            </a:r>
            <a:r>
              <a:rPr lang="en-US" dirty="0"/>
              <a:t> </a:t>
            </a:r>
            <a:r>
              <a:rPr lang="en-US" dirty="0" err="1"/>
              <a:t>pinza</a:t>
            </a:r>
            <a:r>
              <a:rPr lang="en-US" dirty="0"/>
              <a:t> </a:t>
            </a:r>
            <a:r>
              <a:rPr lang="en-US" dirty="0" err="1"/>
              <a:t>nello</a:t>
            </a:r>
            <a:r>
              <a:rPr lang="en-US" dirty="0"/>
              <a:t> </a:t>
            </a:r>
            <a:r>
              <a:rPr lang="en-US" dirty="0" err="1"/>
              <a:t>spazio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B53B455-1B75-19CA-4F7B-4E12A7145892}"/>
              </a:ext>
            </a:extLst>
          </p:cNvPr>
          <p:cNvSpPr txBox="1"/>
          <p:nvPr/>
        </p:nvSpPr>
        <p:spPr>
          <a:xfrm>
            <a:off x="4771373" y="645551"/>
            <a:ext cx="1687706" cy="64633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 err="1"/>
              <a:t>Motore</a:t>
            </a:r>
            <a:r>
              <a:rPr lang="en-US" b="1" dirty="0"/>
              <a:t> 6</a:t>
            </a:r>
            <a:r>
              <a:rPr lang="en-US" dirty="0"/>
              <a:t>: </a:t>
            </a:r>
            <a:r>
              <a:rPr lang="en-US" dirty="0" err="1"/>
              <a:t>apri</a:t>
            </a:r>
            <a:r>
              <a:rPr lang="en-US" dirty="0"/>
              <a:t>/</a:t>
            </a:r>
          </a:p>
          <a:p>
            <a:r>
              <a:rPr lang="en-US" dirty="0" err="1"/>
              <a:t>chiudi</a:t>
            </a:r>
            <a:r>
              <a:rPr lang="en-US" dirty="0"/>
              <a:t> </a:t>
            </a:r>
            <a:r>
              <a:rPr lang="en-US" dirty="0" err="1"/>
              <a:t>pinza</a:t>
            </a:r>
            <a:endParaRPr lang="en-US" dirty="0"/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9309A925-EBB3-DA96-39A8-F7B409B8287B}"/>
              </a:ext>
            </a:extLst>
          </p:cNvPr>
          <p:cNvCxnSpPr>
            <a:cxnSpLocks/>
            <a:stCxn id="3" idx="2"/>
          </p:cNvCxnSpPr>
          <p:nvPr/>
        </p:nvCxnSpPr>
        <p:spPr>
          <a:xfrm>
            <a:off x="5615226" y="1291882"/>
            <a:ext cx="1821400" cy="388671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42026C95-C967-5901-C270-92D0F49FEB8D}"/>
              </a:ext>
            </a:extLst>
          </p:cNvPr>
          <p:cNvCxnSpPr>
            <a:cxnSpLocks/>
            <a:stCxn id="3" idx="2"/>
          </p:cNvCxnSpPr>
          <p:nvPr/>
        </p:nvCxnSpPr>
        <p:spPr>
          <a:xfrm flipH="1">
            <a:off x="3821802" y="1291882"/>
            <a:ext cx="1793424" cy="388671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813AD8B0-CF3E-6A03-2F1A-FBF6C74C12B5}"/>
              </a:ext>
            </a:extLst>
          </p:cNvPr>
          <p:cNvCxnSpPr>
            <a:cxnSpLocks/>
            <a:stCxn id="3" idx="1"/>
          </p:cNvCxnSpPr>
          <p:nvPr/>
        </p:nvCxnSpPr>
        <p:spPr>
          <a:xfrm flipH="1">
            <a:off x="771525" y="968717"/>
            <a:ext cx="3999848" cy="103945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6329358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071604-9C8B-1832-52E1-78F9D76786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OSTENT Cablato Analogico Controller Gamepad Joystick Joypad per Sony  Playstation PS2 PS1 PS One PSX Console Dual Shock Vibration Video Games :  ...">
            <a:extLst>
              <a:ext uri="{FF2B5EF4-FFF2-40B4-BE49-F238E27FC236}">
                <a16:creationId xmlns:a16="http://schemas.microsoft.com/office/drawing/2014/main" id="{60FB0B32-B3CD-2598-2E31-46E2E1A0DC5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888" b="29584"/>
          <a:stretch/>
        </p:blipFill>
        <p:spPr bwMode="auto">
          <a:xfrm>
            <a:off x="2190750" y="1680553"/>
            <a:ext cx="6858000" cy="42881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96C5B583-D980-1F71-77D7-F11E34BEEBBB}"/>
              </a:ext>
            </a:extLst>
          </p:cNvPr>
          <p:cNvSpPr txBox="1"/>
          <p:nvPr/>
        </p:nvSpPr>
        <p:spPr>
          <a:xfrm>
            <a:off x="1590675" y="0"/>
            <a:ext cx="1040182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2800" b="1" noProof="0" dirty="0"/>
              <a:t>Modalità autonoma - visione (agente cerca oggetto specificato)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BE9B0CC-FCBF-D024-B2AE-180519E85F22}"/>
              </a:ext>
            </a:extLst>
          </p:cNvPr>
          <p:cNvSpPr txBox="1"/>
          <p:nvPr/>
        </p:nvSpPr>
        <p:spPr>
          <a:xfrm>
            <a:off x="157874" y="1804099"/>
            <a:ext cx="2000228" cy="175432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Cambia </a:t>
            </a:r>
            <a:r>
              <a:rPr lang="en-US" dirty="0" err="1"/>
              <a:t>bersaglio</a:t>
            </a:r>
            <a:r>
              <a:rPr lang="en-US" dirty="0"/>
              <a:t>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Persona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/>
              <a:t>Arancia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/>
              <a:t>Telecomando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Gatto</a:t>
            </a:r>
          </a:p>
          <a:p>
            <a:r>
              <a:rPr lang="en-US" dirty="0"/>
              <a:t>(</a:t>
            </a:r>
            <a:r>
              <a:rPr lang="en-US" dirty="0" err="1"/>
              <a:t>elenco</a:t>
            </a:r>
            <a:r>
              <a:rPr lang="en-US" dirty="0"/>
              <a:t> </a:t>
            </a:r>
            <a:r>
              <a:rPr lang="en-US" dirty="0" err="1"/>
              <a:t>circolare</a:t>
            </a:r>
            <a:r>
              <a:rPr lang="en-US" dirty="0"/>
              <a:t>)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3B59E714-BB15-BDFB-57D4-E0D7707CA663}"/>
              </a:ext>
            </a:extLst>
          </p:cNvPr>
          <p:cNvCxnSpPr>
            <a:cxnSpLocks/>
          </p:cNvCxnSpPr>
          <p:nvPr/>
        </p:nvCxnSpPr>
        <p:spPr>
          <a:xfrm>
            <a:off x="3170489" y="3290136"/>
            <a:ext cx="863125" cy="0"/>
          </a:xfrm>
          <a:prstGeom prst="straightConnector1">
            <a:avLst/>
          </a:prstGeom>
          <a:ln w="57150">
            <a:solidFill>
              <a:srgbClr val="FF0000"/>
            </a:solidFill>
            <a:prstDash val="sysDot"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B6B48FC0-1C9F-C8B6-667B-6E157761EC2F}"/>
              </a:ext>
            </a:extLst>
          </p:cNvPr>
          <p:cNvCxnSpPr>
            <a:cxnSpLocks/>
            <a:stCxn id="10" idx="3"/>
          </p:cNvCxnSpPr>
          <p:nvPr/>
        </p:nvCxnSpPr>
        <p:spPr>
          <a:xfrm flipV="1">
            <a:off x="2500197" y="3632539"/>
            <a:ext cx="1001773" cy="2090767"/>
          </a:xfrm>
          <a:prstGeom prst="straightConnector1">
            <a:avLst/>
          </a:prstGeom>
          <a:ln w="19050"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03636D43-C815-6F69-D67B-2790D04004CA}"/>
              </a:ext>
            </a:extLst>
          </p:cNvPr>
          <p:cNvCxnSpPr>
            <a:cxnSpLocks/>
          </p:cNvCxnSpPr>
          <p:nvPr/>
        </p:nvCxnSpPr>
        <p:spPr>
          <a:xfrm rot="5400000">
            <a:off x="3160518" y="3289417"/>
            <a:ext cx="863125" cy="0"/>
          </a:xfrm>
          <a:prstGeom prst="straightConnector1">
            <a:avLst/>
          </a:prstGeom>
          <a:ln w="57150">
            <a:solidFill>
              <a:srgbClr val="FFC000"/>
            </a:solidFill>
            <a:prstDash val="sysDot"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C30955A3-E568-EFE8-5A96-87634CBFC5BF}"/>
              </a:ext>
            </a:extLst>
          </p:cNvPr>
          <p:cNvSpPr txBox="1"/>
          <p:nvPr/>
        </p:nvSpPr>
        <p:spPr>
          <a:xfrm>
            <a:off x="9497483" y="5784042"/>
            <a:ext cx="1699504" cy="369332"/>
          </a:xfrm>
          <a:prstGeom prst="rect">
            <a:avLst/>
          </a:prstGeom>
          <a:noFill/>
          <a:ln w="28575">
            <a:solidFill>
              <a:srgbClr val="00B0F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Clacson</a:t>
            </a:r>
            <a:r>
              <a:rPr lang="en-US" dirty="0"/>
              <a:t> (beep)</a:t>
            </a: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932BF08D-812F-FE36-D4DB-83B46146ECA3}"/>
              </a:ext>
            </a:extLst>
          </p:cNvPr>
          <p:cNvCxnSpPr>
            <a:cxnSpLocks/>
            <a:stCxn id="30" idx="0"/>
          </p:cNvCxnSpPr>
          <p:nvPr/>
        </p:nvCxnSpPr>
        <p:spPr>
          <a:xfrm flipH="1" flipV="1">
            <a:off x="7862131" y="3965253"/>
            <a:ext cx="2485104" cy="1818789"/>
          </a:xfrm>
          <a:prstGeom prst="straightConnector1">
            <a:avLst/>
          </a:prstGeom>
          <a:ln w="19050">
            <a:solidFill>
              <a:srgbClr val="00B0F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379E6042-63CE-4900-83A6-CED1556AD6B0}"/>
              </a:ext>
            </a:extLst>
          </p:cNvPr>
          <p:cNvCxnSpPr>
            <a:cxnSpLocks/>
            <a:stCxn id="16" idx="1"/>
          </p:cNvCxnSpPr>
          <p:nvPr/>
        </p:nvCxnSpPr>
        <p:spPr>
          <a:xfrm flipH="1">
            <a:off x="7799464" y="2194700"/>
            <a:ext cx="1907882" cy="534658"/>
          </a:xfrm>
          <a:prstGeom prst="straightConnector1">
            <a:avLst/>
          </a:prstGeom>
          <a:ln w="19050">
            <a:solidFill>
              <a:schemeClr val="accent3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0F640FE2-7F9F-441B-4B60-505A3DA0E5B2}"/>
              </a:ext>
            </a:extLst>
          </p:cNvPr>
          <p:cNvCxnSpPr>
            <a:cxnSpLocks/>
            <a:stCxn id="5" idx="3"/>
          </p:cNvCxnSpPr>
          <p:nvPr/>
        </p:nvCxnSpPr>
        <p:spPr>
          <a:xfrm>
            <a:off x="2158102" y="2681262"/>
            <a:ext cx="1080754" cy="489228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8D0D6A44-F5D1-2D8D-D1B0-22F5B1467837}"/>
              </a:ext>
            </a:extLst>
          </p:cNvPr>
          <p:cNvSpPr txBox="1"/>
          <p:nvPr/>
        </p:nvSpPr>
        <p:spPr>
          <a:xfrm>
            <a:off x="122880" y="4846143"/>
            <a:ext cx="2377317" cy="1754326"/>
          </a:xfrm>
          <a:prstGeom prst="rect">
            <a:avLst/>
          </a:prstGeom>
          <a:noFill/>
          <a:ln w="28575">
            <a:solidFill>
              <a:srgbClr val="FFC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Cambia rete </a:t>
            </a:r>
            <a:r>
              <a:rPr lang="en-US" dirty="0" err="1"/>
              <a:t>neurale</a:t>
            </a:r>
            <a:r>
              <a:rPr lang="en-US" dirty="0"/>
              <a:t>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YOLO 11 small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YOLO 11 small TPU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YOLO 11 med TPU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YOLO 11 big TPU</a:t>
            </a:r>
          </a:p>
          <a:p>
            <a:r>
              <a:rPr lang="en-US" dirty="0"/>
              <a:t>(</a:t>
            </a:r>
            <a:r>
              <a:rPr lang="en-US" dirty="0" err="1"/>
              <a:t>elenco</a:t>
            </a:r>
            <a:r>
              <a:rPr lang="en-US" dirty="0"/>
              <a:t> </a:t>
            </a:r>
            <a:r>
              <a:rPr lang="en-US" dirty="0" err="1"/>
              <a:t>circolare</a:t>
            </a:r>
            <a:r>
              <a:rPr lang="en-US" dirty="0"/>
              <a:t>)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7FFD542-92FA-C823-7135-603DB109C715}"/>
              </a:ext>
            </a:extLst>
          </p:cNvPr>
          <p:cNvSpPr txBox="1"/>
          <p:nvPr/>
        </p:nvSpPr>
        <p:spPr>
          <a:xfrm>
            <a:off x="9707346" y="1871534"/>
            <a:ext cx="1592632" cy="646331"/>
          </a:xfrm>
          <a:prstGeom prst="rect">
            <a:avLst/>
          </a:prstGeom>
          <a:noFill/>
          <a:ln w="28575">
            <a:solidFill>
              <a:schemeClr val="accent3">
                <a:lumMod val="60000"/>
                <a:lumOff val="4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Luci interne</a:t>
            </a:r>
          </a:p>
          <a:p>
            <a:r>
              <a:rPr lang="en-US" dirty="0"/>
              <a:t>(cicla pattern)</a:t>
            </a:r>
          </a:p>
        </p:txBody>
      </p:sp>
    </p:spTree>
    <p:extLst>
      <p:ext uri="{BB962C8B-B14F-4D97-AF65-F5344CB8AC3E}">
        <p14:creationId xmlns:p14="http://schemas.microsoft.com/office/powerpoint/2010/main" val="110161366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347909-D1AA-CE6F-4AA8-9BD8E8B81B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OSTENT Cablato Analogico Controller Gamepad Joystick Joypad per Sony  Playstation PS2 PS1 PS One PSX Console Dual Shock Vibration Video Games :  ...">
            <a:extLst>
              <a:ext uri="{FF2B5EF4-FFF2-40B4-BE49-F238E27FC236}">
                <a16:creationId xmlns:a16="http://schemas.microsoft.com/office/drawing/2014/main" id="{40E357D9-E406-7B11-9A91-66BE67FDBA3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888" b="29584"/>
          <a:stretch/>
        </p:blipFill>
        <p:spPr bwMode="auto">
          <a:xfrm>
            <a:off x="2190750" y="1680553"/>
            <a:ext cx="6858000" cy="42881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849F4B5F-F86E-A85A-A4BC-1DCE3544697B}"/>
              </a:ext>
            </a:extLst>
          </p:cNvPr>
          <p:cNvSpPr txBox="1"/>
          <p:nvPr/>
        </p:nvSpPr>
        <p:spPr>
          <a:xfrm>
            <a:off x="1590675" y="0"/>
            <a:ext cx="969605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2800" b="1" noProof="0" dirty="0"/>
              <a:t>Modalità autonoma - suono (agente si muove verso i suoni)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F90E083-1888-8B1F-B8CD-EA2AD1A9D31E}"/>
              </a:ext>
            </a:extLst>
          </p:cNvPr>
          <p:cNvSpPr txBox="1"/>
          <p:nvPr/>
        </p:nvSpPr>
        <p:spPr>
          <a:xfrm>
            <a:off x="9497483" y="5784042"/>
            <a:ext cx="1699504" cy="369332"/>
          </a:xfrm>
          <a:prstGeom prst="rect">
            <a:avLst/>
          </a:prstGeom>
          <a:noFill/>
          <a:ln w="28575">
            <a:solidFill>
              <a:srgbClr val="00B0F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Clacson</a:t>
            </a:r>
            <a:r>
              <a:rPr lang="en-US" dirty="0"/>
              <a:t> (beep)</a:t>
            </a: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BB36C8F3-7996-2471-8782-48348ECBF8B9}"/>
              </a:ext>
            </a:extLst>
          </p:cNvPr>
          <p:cNvCxnSpPr>
            <a:cxnSpLocks/>
            <a:stCxn id="30" idx="0"/>
          </p:cNvCxnSpPr>
          <p:nvPr/>
        </p:nvCxnSpPr>
        <p:spPr>
          <a:xfrm flipH="1" flipV="1">
            <a:off x="7862131" y="3965253"/>
            <a:ext cx="2485104" cy="1818789"/>
          </a:xfrm>
          <a:prstGeom prst="straightConnector1">
            <a:avLst/>
          </a:prstGeom>
          <a:ln w="19050">
            <a:solidFill>
              <a:srgbClr val="00B0F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F67767F0-109E-420E-2656-84AD2DAD3649}"/>
              </a:ext>
            </a:extLst>
          </p:cNvPr>
          <p:cNvCxnSpPr>
            <a:cxnSpLocks/>
            <a:stCxn id="16" idx="1"/>
          </p:cNvCxnSpPr>
          <p:nvPr/>
        </p:nvCxnSpPr>
        <p:spPr>
          <a:xfrm flipH="1">
            <a:off x="7799464" y="2194700"/>
            <a:ext cx="1907882" cy="534658"/>
          </a:xfrm>
          <a:prstGeom prst="straightConnector1">
            <a:avLst/>
          </a:prstGeom>
          <a:ln w="19050">
            <a:solidFill>
              <a:schemeClr val="accent3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82FCE96E-5340-B8D7-41B2-5351D4334866}"/>
              </a:ext>
            </a:extLst>
          </p:cNvPr>
          <p:cNvSpPr txBox="1"/>
          <p:nvPr/>
        </p:nvSpPr>
        <p:spPr>
          <a:xfrm>
            <a:off x="9707346" y="1871534"/>
            <a:ext cx="1592632" cy="646331"/>
          </a:xfrm>
          <a:prstGeom prst="rect">
            <a:avLst/>
          </a:prstGeom>
          <a:noFill/>
          <a:ln w="28575">
            <a:solidFill>
              <a:schemeClr val="accent3">
                <a:lumMod val="60000"/>
                <a:lumOff val="4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Luci interne</a:t>
            </a:r>
          </a:p>
          <a:p>
            <a:r>
              <a:rPr lang="en-US" dirty="0"/>
              <a:t>(cicla pattern)</a:t>
            </a:r>
          </a:p>
        </p:txBody>
      </p:sp>
    </p:spTree>
    <p:extLst>
      <p:ext uri="{BB962C8B-B14F-4D97-AF65-F5344CB8AC3E}">
        <p14:creationId xmlns:p14="http://schemas.microsoft.com/office/powerpoint/2010/main" val="206511741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330</TotalTime>
  <Words>419</Words>
  <Application>Microsoft Office PowerPoint</Application>
  <PresentationFormat>Widescreen</PresentationFormat>
  <Paragraphs>81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Marco CONCIATORI</dc:creator>
  <cp:lastModifiedBy>Marco CONCIATORI</cp:lastModifiedBy>
  <cp:revision>20</cp:revision>
  <dcterms:created xsi:type="dcterms:W3CDTF">2025-04-12T23:11:29Z</dcterms:created>
  <dcterms:modified xsi:type="dcterms:W3CDTF">2026-07-19T11:36:06Z</dcterms:modified>
</cp:coreProperties>
</file>