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D45A"/>
    <a:srgbClr val="AFF2D0"/>
    <a:srgbClr val="F14C60"/>
    <a:srgbClr val="BBD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D1C5-450D-0569-BBF8-8A0FA0C0D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9C43E-FCE4-781E-E676-6114FD1C8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65C20-5248-C746-1239-C0794793F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B726D-AB14-1E86-EF9F-8B8DC62F0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694FB-D87A-C007-B34A-F42F00A2E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64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63F7C-4B7A-92BE-CC31-48FD58DFA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C4C42-C47A-8E90-9DA6-49CD3F2EC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B850F-7ABF-B2EB-5BA1-1FA8EDE96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2F4F1-4F98-8626-BEF8-23F7A7346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76E388-2A71-B6EB-69D8-4251C7B3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72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E6A0C-8B03-CCCD-1BE9-BA6A49215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1FAC3-2756-7A7F-1A02-F557BD27A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9B17F-CFEF-6D19-F89D-2A3F07B85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84C85-253C-67F6-5A77-111AD1868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68689-8F75-90A7-BF8C-BC8F9AC4F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205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9A52A-1167-EBAB-AB3F-8EEDA401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120E3-490E-3B58-6455-F456A12F99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7536E-3EEB-6563-AD09-4D346AF45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6B965-B3E7-A631-A286-D3F1EFDD9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AFD73-1C2B-CFBC-CBFC-58226DFB2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25FB7-1F94-18D5-2401-736F8F027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8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484DB-6C48-7A98-A04F-392CF0953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26C66-EA19-5512-20AB-B4BB3879C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59F72B-BF64-E723-724A-F962ACD41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988320-664E-BDFC-8FDC-5B38101F7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51965-FD5B-219E-9F0D-B9A7F52CE7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4FB158-9786-5040-AF88-FEE7F9E3E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0B7437-B793-30E3-3563-66C77C1B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BBD666-F286-E878-8F52-E55132AFD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52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DFB72-512B-D01A-9D9B-9D8250D1E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9AF3A6-23CF-C4CB-5118-C553D6EF7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41F648-9DFE-052D-54B1-4421C7869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5EDA2-A7B1-EE32-D69D-89930EAFD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88680C-DC20-198A-4384-5762BD0EF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015E55-26D0-C402-9A03-0CE045436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05291-23F1-37D6-5EBC-120A607C2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48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95E8A-6174-B7DB-C647-94B3387F4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6A692-F9A2-D5AB-7987-E7F39EC9F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56469-0FA0-4E80-D6D1-02F040BD1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19AD0-D7E5-63BE-998B-36C2B68D5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54594-8821-0603-121B-869E4315B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162E9-C7DB-F8F5-911E-62A59ADDF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2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BE7F4-9FA3-0DD1-F3CA-636921491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B6079A-609B-7020-C18B-164C51CDE4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E7586-A55A-BE63-6CF7-0E0B34BBE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6E671-5C93-C48F-36B8-CF5577388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5AB17-25D9-DEE5-B4FD-01E0ACEEB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E99B7-3124-429E-E13F-59E1F586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664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9B74E-7160-C086-C99F-115B2158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8E373-DE2D-1708-9AD3-CC62E7B36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8E4C2-3449-98A6-017E-DEE24FD54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776FD-09AB-8CA6-B83A-E038A2837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E64C2-80AF-51B5-AE43-75178BBB4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2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01E4B9-7C7C-AF99-9D4B-533896B528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9F9C0-C17A-D43D-BB18-E7DC62C67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C512E-175C-3449-2465-80266EF8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8028-44F6-416E-B0AB-FAA3EA91683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A4E80-EAAF-A8E8-25EC-1E63692F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C1761-E0A6-0E85-3B96-D7BFE21C7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3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4425B4-4E65-FCF7-B3D1-C112F8551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F6C04-B58B-28BB-00A3-31201CDEA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E0770-4535-3850-E339-CF88641C6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78028-44F6-416E-B0AB-FAA3EA91683A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0A96A-5E0A-9B41-9BFB-8C72CA8A1C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C1EA0-6A79-0210-7438-D474748F0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EEB30-6363-497E-821C-4234D1133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6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STENT Cablato Analogico Controller Gamepad Joystick Joypad per Sony  Playstation PS2 PS1 PS One PSX Console Dual Shock Vibration Video Games :  ...">
            <a:extLst>
              <a:ext uri="{FF2B5EF4-FFF2-40B4-BE49-F238E27FC236}">
                <a16:creationId xmlns:a16="http://schemas.microsoft.com/office/drawing/2014/main" id="{9ECDAD56-80DE-915B-AD2D-8BFA1B7F23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8" b="29584"/>
          <a:stretch/>
        </p:blipFill>
        <p:spPr bwMode="auto">
          <a:xfrm>
            <a:off x="2190750" y="1680553"/>
            <a:ext cx="6858000" cy="428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797554-1CC4-FD42-DCFA-037EB3340E2E}"/>
              </a:ext>
            </a:extLst>
          </p:cNvPr>
          <p:cNvSpPr txBox="1"/>
          <p:nvPr/>
        </p:nvSpPr>
        <p:spPr>
          <a:xfrm>
            <a:off x="1590675" y="0"/>
            <a:ext cx="50586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noProof="0" dirty="0"/>
              <a:t>Tasti validi in tutte le modalità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5755DA-455C-7703-DEFD-262835968764}"/>
              </a:ext>
            </a:extLst>
          </p:cNvPr>
          <p:cNvSpPr txBox="1"/>
          <p:nvPr/>
        </p:nvSpPr>
        <p:spPr>
          <a:xfrm>
            <a:off x="2258415" y="6100614"/>
            <a:ext cx="3157980" cy="64633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Click </a:t>
            </a:r>
            <a:r>
              <a:rPr lang="en-US" b="1" dirty="0" err="1"/>
              <a:t>lungo</a:t>
            </a:r>
            <a:r>
              <a:rPr lang="en-US" dirty="0"/>
              <a:t>: cambia </a:t>
            </a:r>
            <a:r>
              <a:rPr lang="en-US" dirty="0" err="1"/>
              <a:t>modalità</a:t>
            </a:r>
            <a:endParaRPr lang="en-US" dirty="0"/>
          </a:p>
          <a:p>
            <a:r>
              <a:rPr lang="en-US" dirty="0"/>
              <a:t>(</a:t>
            </a:r>
            <a:r>
              <a:rPr lang="en-US" dirty="0" err="1"/>
              <a:t>elenco</a:t>
            </a:r>
            <a:r>
              <a:rPr lang="en-US" dirty="0"/>
              <a:t> </a:t>
            </a:r>
            <a:r>
              <a:rPr lang="en-US" dirty="0" err="1"/>
              <a:t>circolare</a:t>
            </a:r>
            <a:r>
              <a:rPr lang="en-US" dirty="0"/>
              <a:t>)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49DE4EC-E5B7-6EE7-0B2F-1383A18D9F4F}"/>
              </a:ext>
            </a:extLst>
          </p:cNvPr>
          <p:cNvCxnSpPr>
            <a:cxnSpLocks/>
            <a:stCxn id="49" idx="0"/>
          </p:cNvCxnSpPr>
          <p:nvPr/>
        </p:nvCxnSpPr>
        <p:spPr>
          <a:xfrm flipV="1">
            <a:off x="3837405" y="3367043"/>
            <a:ext cx="956786" cy="2733571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F551A6E-319F-D583-28CD-B0EC2B969D03}"/>
              </a:ext>
            </a:extLst>
          </p:cNvPr>
          <p:cNvSpPr txBox="1"/>
          <p:nvPr/>
        </p:nvSpPr>
        <p:spPr>
          <a:xfrm>
            <a:off x="4166075" y="691820"/>
            <a:ext cx="2890471" cy="646331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L2/R2</a:t>
            </a:r>
            <a:r>
              <a:rPr lang="en-US" dirty="0"/>
              <a:t>: </a:t>
            </a:r>
            <a:r>
              <a:rPr lang="en-US" dirty="0" err="1"/>
              <a:t>diminuisci</a:t>
            </a:r>
            <a:r>
              <a:rPr lang="en-US" dirty="0"/>
              <a:t>/</a:t>
            </a:r>
            <a:r>
              <a:rPr lang="en-US" dirty="0" err="1"/>
              <a:t>aumenta</a:t>
            </a:r>
            <a:endParaRPr lang="en-US" dirty="0"/>
          </a:p>
          <a:p>
            <a:r>
              <a:rPr lang="en-US" dirty="0"/>
              <a:t>la </a:t>
            </a:r>
            <a:r>
              <a:rPr lang="en-US" dirty="0" err="1"/>
              <a:t>velocità</a:t>
            </a:r>
            <a:r>
              <a:rPr lang="en-US" dirty="0"/>
              <a:t> </a:t>
            </a:r>
            <a:r>
              <a:rPr lang="en-US" dirty="0" err="1"/>
              <a:t>massima</a:t>
            </a:r>
            <a:endParaRPr lang="en-US" dirty="0"/>
          </a:p>
        </p:txBody>
      </p: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68A4F943-9F81-A449-1799-84ACBAC20E0E}"/>
              </a:ext>
            </a:extLst>
          </p:cNvPr>
          <p:cNvCxnSpPr>
            <a:cxnSpLocks/>
            <a:stCxn id="63" idx="2"/>
          </p:cNvCxnSpPr>
          <p:nvPr/>
        </p:nvCxnSpPr>
        <p:spPr>
          <a:xfrm flipH="1">
            <a:off x="4033614" y="1338151"/>
            <a:ext cx="1577697" cy="395979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Arrow Connector 1027">
            <a:extLst>
              <a:ext uri="{FF2B5EF4-FFF2-40B4-BE49-F238E27FC236}">
                <a16:creationId xmlns:a16="http://schemas.microsoft.com/office/drawing/2014/main" id="{F88D5E9C-B022-2C26-659A-BA1704927036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5611311" y="1338151"/>
            <a:ext cx="1592224" cy="410194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EABD6A5-813D-0DAE-65D0-3683E796DB15}"/>
              </a:ext>
            </a:extLst>
          </p:cNvPr>
          <p:cNvSpPr txBox="1"/>
          <p:nvPr/>
        </p:nvSpPr>
        <p:spPr>
          <a:xfrm>
            <a:off x="5611310" y="6100614"/>
            <a:ext cx="3547574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Click </a:t>
            </a:r>
            <a:r>
              <a:rPr lang="en-US" b="1" dirty="0" err="1"/>
              <a:t>corto</a:t>
            </a:r>
            <a:r>
              <a:rPr lang="en-US" dirty="0"/>
              <a:t>: cambia sub </a:t>
            </a:r>
            <a:r>
              <a:rPr lang="en-US" dirty="0" err="1"/>
              <a:t>modalità</a:t>
            </a:r>
            <a:endParaRPr lang="en-US" dirty="0"/>
          </a:p>
          <a:p>
            <a:r>
              <a:rPr lang="en-US" dirty="0"/>
              <a:t>(</a:t>
            </a:r>
            <a:r>
              <a:rPr lang="en-US" dirty="0" err="1"/>
              <a:t>elenco</a:t>
            </a:r>
            <a:r>
              <a:rPr lang="en-US" dirty="0"/>
              <a:t> </a:t>
            </a:r>
            <a:r>
              <a:rPr lang="en-US" dirty="0" err="1"/>
              <a:t>circolare</a:t>
            </a:r>
            <a:r>
              <a:rPr lang="en-US" dirty="0"/>
              <a:t>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8C5BDA-A56F-73A9-74F0-6697C43A83FD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5221480" y="3367043"/>
            <a:ext cx="2163617" cy="273357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4EF911D-5C0A-D711-702C-D92EE72B029F}"/>
              </a:ext>
            </a:extLst>
          </p:cNvPr>
          <p:cNvSpPr txBox="1"/>
          <p:nvPr/>
        </p:nvSpPr>
        <p:spPr>
          <a:xfrm>
            <a:off x="8040570" y="1087799"/>
            <a:ext cx="2453416" cy="6463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Riattiva</a:t>
            </a:r>
            <a:r>
              <a:rPr lang="en-US" dirty="0"/>
              <a:t> il joystick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modalità</a:t>
            </a:r>
            <a:r>
              <a:rPr lang="en-US" dirty="0"/>
              <a:t> standby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C9821D5-41AC-9E60-6DCC-88CAE44BAA3D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6272613" y="1734130"/>
            <a:ext cx="2994665" cy="1521818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902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D43E1-D8E0-F7B4-2207-8B0CB72E4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STENT Cablato Analogico Controller Gamepad Joystick Joypad per Sony  Playstation PS2 PS1 PS One PSX Console Dual Shock Vibration Video Games :  ...">
            <a:extLst>
              <a:ext uri="{FF2B5EF4-FFF2-40B4-BE49-F238E27FC236}">
                <a16:creationId xmlns:a16="http://schemas.microsoft.com/office/drawing/2014/main" id="{D7C0C947-2722-7BC6-5A81-14F9221C7D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8" b="29584"/>
          <a:stretch/>
        </p:blipFill>
        <p:spPr bwMode="auto">
          <a:xfrm>
            <a:off x="2190750" y="1680553"/>
            <a:ext cx="6858000" cy="428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7D9D9E-B9FE-1F63-8201-CBD81F9D5766}"/>
              </a:ext>
            </a:extLst>
          </p:cNvPr>
          <p:cNvSpPr txBox="1"/>
          <p:nvPr/>
        </p:nvSpPr>
        <p:spPr>
          <a:xfrm>
            <a:off x="1590675" y="0"/>
            <a:ext cx="629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noProof="0" dirty="0"/>
              <a:t>Modalità controllato da utente (ruote)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FC50DB-DBCF-3867-2420-EB9224008D8A}"/>
              </a:ext>
            </a:extLst>
          </p:cNvPr>
          <p:cNvSpPr txBox="1"/>
          <p:nvPr/>
        </p:nvSpPr>
        <p:spPr>
          <a:xfrm>
            <a:off x="157874" y="1804099"/>
            <a:ext cx="1658852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Trasla</a:t>
            </a:r>
            <a:r>
              <a:rPr lang="en-US" dirty="0"/>
              <a:t> verso</a:t>
            </a:r>
          </a:p>
          <a:p>
            <a:r>
              <a:rPr lang="en-US" dirty="0" err="1"/>
              <a:t>destra</a:t>
            </a:r>
            <a:r>
              <a:rPr lang="en-US" dirty="0"/>
              <a:t>/sinistra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3C15C0-5180-EBF9-93E3-EC1A12E94CFD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987300" y="2450430"/>
            <a:ext cx="2251556" cy="7200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6D2EB8-CAA9-5013-B32D-11184C23DFC5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987300" y="2450430"/>
            <a:ext cx="3268506" cy="175682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D40A715-588E-6D2F-8A4A-4F08D132DE3A}"/>
              </a:ext>
            </a:extLst>
          </p:cNvPr>
          <p:cNvSpPr txBox="1"/>
          <p:nvPr/>
        </p:nvSpPr>
        <p:spPr>
          <a:xfrm>
            <a:off x="605327" y="6272465"/>
            <a:ext cx="2273379" cy="369332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Muovi</a:t>
            </a:r>
            <a:r>
              <a:rPr lang="en-US" dirty="0"/>
              <a:t> avanti/</a:t>
            </a:r>
            <a:r>
              <a:rPr lang="en-US" dirty="0" err="1"/>
              <a:t>indietro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DC6A73-7AFA-D856-F122-7E4986DCBDB2}"/>
              </a:ext>
            </a:extLst>
          </p:cNvPr>
          <p:cNvCxnSpPr>
            <a:cxnSpLocks/>
          </p:cNvCxnSpPr>
          <p:nvPr/>
        </p:nvCxnSpPr>
        <p:spPr>
          <a:xfrm>
            <a:off x="3170489" y="3290136"/>
            <a:ext cx="863125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AF4B9B-E12D-E843-5C2F-D02AB2C8F3AD}"/>
              </a:ext>
            </a:extLst>
          </p:cNvPr>
          <p:cNvCxnSpPr>
            <a:cxnSpLocks/>
          </p:cNvCxnSpPr>
          <p:nvPr/>
        </p:nvCxnSpPr>
        <p:spPr>
          <a:xfrm>
            <a:off x="4166075" y="4309309"/>
            <a:ext cx="863125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0B0BA9-9FE2-BC7E-64D6-2B33F00C7C2D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1742017" y="3615221"/>
            <a:ext cx="1776531" cy="265724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6535C98-305A-6676-45E4-DDD82CD5072D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1742017" y="4622530"/>
            <a:ext cx="2802259" cy="1649935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16F1337-8E10-BB31-8ED3-7057A93CC270}"/>
              </a:ext>
            </a:extLst>
          </p:cNvPr>
          <p:cNvCxnSpPr>
            <a:cxnSpLocks/>
          </p:cNvCxnSpPr>
          <p:nvPr/>
        </p:nvCxnSpPr>
        <p:spPr>
          <a:xfrm rot="5400000">
            <a:off x="4166074" y="4309309"/>
            <a:ext cx="863125" cy="0"/>
          </a:xfrm>
          <a:prstGeom prst="straightConnector1">
            <a:avLst/>
          </a:prstGeom>
          <a:ln w="57150">
            <a:solidFill>
              <a:srgbClr val="FFC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A3C40B4-3F1B-8210-A57D-890B231B46EA}"/>
              </a:ext>
            </a:extLst>
          </p:cNvPr>
          <p:cNvCxnSpPr>
            <a:cxnSpLocks/>
          </p:cNvCxnSpPr>
          <p:nvPr/>
        </p:nvCxnSpPr>
        <p:spPr>
          <a:xfrm rot="5400000">
            <a:off x="3160518" y="3289417"/>
            <a:ext cx="863125" cy="0"/>
          </a:xfrm>
          <a:prstGeom prst="straightConnector1">
            <a:avLst/>
          </a:prstGeom>
          <a:ln w="57150">
            <a:solidFill>
              <a:srgbClr val="FFC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9FBEDBA-617A-8382-F364-913EF93A11B1}"/>
              </a:ext>
            </a:extLst>
          </p:cNvPr>
          <p:cNvSpPr txBox="1"/>
          <p:nvPr/>
        </p:nvSpPr>
        <p:spPr>
          <a:xfrm>
            <a:off x="9497483" y="5784042"/>
            <a:ext cx="1699504" cy="36933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Clacson</a:t>
            </a:r>
            <a:r>
              <a:rPr lang="en-US" dirty="0"/>
              <a:t> (beep)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804347B-C6BF-5A25-702B-92393084095B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7799464" y="3964310"/>
            <a:ext cx="2547771" cy="181973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DE8509B-60AF-4CE6-2415-F6CB386CB5C4}"/>
              </a:ext>
            </a:extLst>
          </p:cNvPr>
          <p:cNvSpPr txBox="1"/>
          <p:nvPr/>
        </p:nvSpPr>
        <p:spPr>
          <a:xfrm>
            <a:off x="10028489" y="2975577"/>
            <a:ext cx="1513556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Gpio</a:t>
            </a:r>
            <a:r>
              <a:rPr lang="en-US" dirty="0"/>
              <a:t> LED</a:t>
            </a:r>
          </a:p>
          <a:p>
            <a:r>
              <a:rPr lang="en-US" dirty="0"/>
              <a:t>(cicla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colori</a:t>
            </a:r>
            <a:r>
              <a:rPr lang="en-US" dirty="0"/>
              <a:t>)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5A52B0D-4072-36C6-7577-7E56EBFA4FF1}"/>
              </a:ext>
            </a:extLst>
          </p:cNvPr>
          <p:cNvCxnSpPr>
            <a:cxnSpLocks/>
            <a:stCxn id="35" idx="1"/>
          </p:cNvCxnSpPr>
          <p:nvPr/>
        </p:nvCxnSpPr>
        <p:spPr>
          <a:xfrm flipH="1">
            <a:off x="8405813" y="3298743"/>
            <a:ext cx="1622676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E75FBCC-15D3-E7A6-6E51-533E20640B29}"/>
              </a:ext>
            </a:extLst>
          </p:cNvPr>
          <p:cNvSpPr txBox="1"/>
          <p:nvPr/>
        </p:nvSpPr>
        <p:spPr>
          <a:xfrm>
            <a:off x="9707346" y="1871534"/>
            <a:ext cx="1592632" cy="646331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Luci interne</a:t>
            </a:r>
          </a:p>
          <a:p>
            <a:r>
              <a:rPr lang="en-US" dirty="0"/>
              <a:t>(cicla pattern)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0FC0D0D-1C54-EC62-F7C6-0CA44AD6EAB2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7799464" y="2194700"/>
            <a:ext cx="1907882" cy="534658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821EFBF-D7FE-B6F5-02C0-46F2DD674267}"/>
              </a:ext>
            </a:extLst>
          </p:cNvPr>
          <p:cNvSpPr txBox="1"/>
          <p:nvPr/>
        </p:nvSpPr>
        <p:spPr>
          <a:xfrm>
            <a:off x="7071639" y="6083163"/>
            <a:ext cx="1687706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Ruota</a:t>
            </a:r>
            <a:r>
              <a:rPr lang="en-US" dirty="0"/>
              <a:t> verso</a:t>
            </a:r>
          </a:p>
          <a:p>
            <a:r>
              <a:rPr lang="en-US" dirty="0"/>
              <a:t>Destra/sinistra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12C10D9-6962-AC5C-9734-10785D6B34D6}"/>
              </a:ext>
            </a:extLst>
          </p:cNvPr>
          <p:cNvCxnSpPr>
            <a:cxnSpLocks/>
          </p:cNvCxnSpPr>
          <p:nvPr/>
        </p:nvCxnSpPr>
        <p:spPr>
          <a:xfrm>
            <a:off x="6227480" y="4309309"/>
            <a:ext cx="863125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AD74B14-15EA-5683-5F46-847C6FEDF6B8}"/>
              </a:ext>
            </a:extLst>
          </p:cNvPr>
          <p:cNvCxnSpPr>
            <a:cxnSpLocks/>
            <a:stCxn id="42" idx="0"/>
          </p:cNvCxnSpPr>
          <p:nvPr/>
        </p:nvCxnSpPr>
        <p:spPr>
          <a:xfrm flipH="1" flipV="1">
            <a:off x="6886575" y="4391025"/>
            <a:ext cx="1028917" cy="16921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7C34145-0477-8C1C-3BCD-17786CC4207E}"/>
              </a:ext>
            </a:extLst>
          </p:cNvPr>
          <p:cNvSpPr txBox="1"/>
          <p:nvPr/>
        </p:nvSpPr>
        <p:spPr>
          <a:xfrm>
            <a:off x="1450155" y="689127"/>
            <a:ext cx="1630959" cy="64633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L1</a:t>
            </a:r>
            <a:r>
              <a:rPr lang="en-US" dirty="0"/>
              <a:t>: </a:t>
            </a:r>
            <a:r>
              <a:rPr lang="en-US" dirty="0" err="1"/>
              <a:t>switcha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r>
              <a:rPr lang="en-US" dirty="0" err="1"/>
              <a:t>wifi</a:t>
            </a:r>
            <a:r>
              <a:rPr lang="en-US" dirty="0"/>
              <a:t> e hotspot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0A0BEF5-AB6F-03D9-0C2F-D13D189F4E25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2265635" y="1335458"/>
            <a:ext cx="1189503" cy="36933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1" name="TextBox 1030">
            <a:extLst>
              <a:ext uri="{FF2B5EF4-FFF2-40B4-BE49-F238E27FC236}">
                <a16:creationId xmlns:a16="http://schemas.microsoft.com/office/drawing/2014/main" id="{604F4C9D-55EC-2CB5-01E0-AE7B20AA6F28}"/>
              </a:ext>
            </a:extLst>
          </p:cNvPr>
          <p:cNvSpPr txBox="1"/>
          <p:nvPr/>
        </p:nvSpPr>
        <p:spPr>
          <a:xfrm>
            <a:off x="7862131" y="689127"/>
            <a:ext cx="2638992" cy="6463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R1</a:t>
            </a:r>
            <a:r>
              <a:rPr lang="en-US" dirty="0"/>
              <a:t>: </a:t>
            </a:r>
            <a:r>
              <a:rPr lang="en-US" dirty="0" err="1"/>
              <a:t>attiva</a:t>
            </a:r>
            <a:r>
              <a:rPr lang="en-US" dirty="0"/>
              <a:t>/</a:t>
            </a:r>
            <a:r>
              <a:rPr lang="en-US" dirty="0" err="1"/>
              <a:t>disattiva</a:t>
            </a:r>
            <a:r>
              <a:rPr lang="en-US" dirty="0"/>
              <a:t> ROS2</a:t>
            </a:r>
          </a:p>
          <a:p>
            <a:r>
              <a:rPr lang="en-US" dirty="0"/>
              <a:t>(</a:t>
            </a:r>
            <a:r>
              <a:rPr lang="en-US" dirty="0" err="1"/>
              <a:t>connessione</a:t>
            </a:r>
            <a:r>
              <a:rPr lang="en-US" dirty="0"/>
              <a:t> con VR)</a:t>
            </a:r>
          </a:p>
        </p:txBody>
      </p:sp>
      <p:cxnSp>
        <p:nvCxnSpPr>
          <p:cNvPr id="1034" name="Straight Arrow Connector 1033">
            <a:extLst>
              <a:ext uri="{FF2B5EF4-FFF2-40B4-BE49-F238E27FC236}">
                <a16:creationId xmlns:a16="http://schemas.microsoft.com/office/drawing/2014/main" id="{07FD986A-B3C5-4BCB-E93D-4271871922E4}"/>
              </a:ext>
            </a:extLst>
          </p:cNvPr>
          <p:cNvCxnSpPr>
            <a:cxnSpLocks/>
            <a:stCxn id="1031" idx="2"/>
          </p:cNvCxnSpPr>
          <p:nvPr/>
        </p:nvCxnSpPr>
        <p:spPr>
          <a:xfrm flipH="1">
            <a:off x="7915492" y="1335458"/>
            <a:ext cx="1266135" cy="369332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2905AE0-AA2D-5FB8-A8C4-42ED6154CC76}"/>
              </a:ext>
            </a:extLst>
          </p:cNvPr>
          <p:cNvSpPr txBox="1"/>
          <p:nvPr/>
        </p:nvSpPr>
        <p:spPr>
          <a:xfrm>
            <a:off x="9611058" y="4078099"/>
            <a:ext cx="2326214" cy="6463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Attiva</a:t>
            </a:r>
            <a:r>
              <a:rPr lang="en-US" dirty="0"/>
              <a:t>/</a:t>
            </a:r>
            <a:r>
              <a:rPr lang="en-US" dirty="0" err="1"/>
              <a:t>disattiva</a:t>
            </a:r>
            <a:r>
              <a:rPr lang="en-US" dirty="0"/>
              <a:t> lidar e</a:t>
            </a:r>
          </a:p>
          <a:p>
            <a:r>
              <a:rPr lang="en-US" dirty="0"/>
              <a:t>collision avoidance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4359B3-C2B6-311F-AAAC-DA9B8A86FB40}"/>
              </a:ext>
            </a:extLst>
          </p:cNvPr>
          <p:cNvCxnSpPr>
            <a:cxnSpLocks/>
            <a:stCxn id="2" idx="1"/>
          </p:cNvCxnSpPr>
          <p:nvPr/>
        </p:nvCxnSpPr>
        <p:spPr>
          <a:xfrm flipH="1" flipV="1">
            <a:off x="7203535" y="3318922"/>
            <a:ext cx="2407523" cy="1082343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559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9C117-4A23-B311-2678-1F682BFFA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g">
            <a:extLst>
              <a:ext uri="{FF2B5EF4-FFF2-40B4-BE49-F238E27FC236}">
                <a16:creationId xmlns:a16="http://schemas.microsoft.com/office/drawing/2014/main" id="{93C04CE9-946D-35F5-85A3-9CD2FE337B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76" t="22324" r="129" b="50389"/>
          <a:stretch/>
        </p:blipFill>
        <p:spPr bwMode="auto">
          <a:xfrm rot="16200000">
            <a:off x="-2236316" y="2648748"/>
            <a:ext cx="5790892" cy="130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OSTENT Cablato Analogico Controller Gamepad Joystick Joypad per Sony  Playstation PS2 PS1 PS One PSX Console Dual Shock Vibration Video Games :  ...">
            <a:extLst>
              <a:ext uri="{FF2B5EF4-FFF2-40B4-BE49-F238E27FC236}">
                <a16:creationId xmlns:a16="http://schemas.microsoft.com/office/drawing/2014/main" id="{425D7419-587B-5D0E-20D8-C3037B154D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8" b="29584"/>
          <a:stretch/>
        </p:blipFill>
        <p:spPr bwMode="auto">
          <a:xfrm>
            <a:off x="2190750" y="1680553"/>
            <a:ext cx="6858000" cy="428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3ED27A-804E-6D49-C62F-383B7B82569F}"/>
              </a:ext>
            </a:extLst>
          </p:cNvPr>
          <p:cNvSpPr txBox="1"/>
          <p:nvPr/>
        </p:nvSpPr>
        <p:spPr>
          <a:xfrm>
            <a:off x="1675880" y="6090285"/>
            <a:ext cx="1870577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Motore</a:t>
            </a:r>
            <a:r>
              <a:rPr lang="en-US" b="1" dirty="0"/>
              <a:t> 1</a:t>
            </a:r>
            <a:r>
              <a:rPr lang="en-US" dirty="0"/>
              <a:t>: </a:t>
            </a:r>
            <a:r>
              <a:rPr lang="en-US" dirty="0" err="1"/>
              <a:t>ruota</a:t>
            </a:r>
            <a:endParaRPr lang="en-US" dirty="0"/>
          </a:p>
          <a:p>
            <a:r>
              <a:rPr lang="en-US" dirty="0"/>
              <a:t>base del braccio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30D6542-EBF8-B950-A852-A5D4046DDB3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2611169" y="4375447"/>
            <a:ext cx="1652051" cy="17148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9C2464E-0B29-A2D1-8339-11637AC58901}"/>
              </a:ext>
            </a:extLst>
          </p:cNvPr>
          <p:cNvCxnSpPr>
            <a:cxnSpLocks/>
          </p:cNvCxnSpPr>
          <p:nvPr/>
        </p:nvCxnSpPr>
        <p:spPr>
          <a:xfrm>
            <a:off x="3170489" y="3290136"/>
            <a:ext cx="863125" cy="0"/>
          </a:xfrm>
          <a:prstGeom prst="straightConnector1">
            <a:avLst/>
          </a:prstGeom>
          <a:ln w="57150">
            <a:solidFill>
              <a:srgbClr val="47D45A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EB65B1D-294F-51C1-21F9-3646845AF9A5}"/>
              </a:ext>
            </a:extLst>
          </p:cNvPr>
          <p:cNvCxnSpPr>
            <a:cxnSpLocks/>
          </p:cNvCxnSpPr>
          <p:nvPr/>
        </p:nvCxnSpPr>
        <p:spPr>
          <a:xfrm>
            <a:off x="4166075" y="4309309"/>
            <a:ext cx="863125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FE496BA-4DD1-1C5C-CDDD-BCE964ED9D55}"/>
              </a:ext>
            </a:extLst>
          </p:cNvPr>
          <p:cNvCxnSpPr>
            <a:cxnSpLocks/>
          </p:cNvCxnSpPr>
          <p:nvPr/>
        </p:nvCxnSpPr>
        <p:spPr>
          <a:xfrm rot="5400000">
            <a:off x="4166074" y="4309309"/>
            <a:ext cx="863125" cy="0"/>
          </a:xfrm>
          <a:prstGeom prst="straightConnector1">
            <a:avLst/>
          </a:prstGeom>
          <a:ln w="57150">
            <a:solidFill>
              <a:srgbClr val="00B0F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5E8ED28-1B99-F5D4-1A44-FE5DD10B4975}"/>
              </a:ext>
            </a:extLst>
          </p:cNvPr>
          <p:cNvCxnSpPr>
            <a:cxnSpLocks/>
          </p:cNvCxnSpPr>
          <p:nvPr/>
        </p:nvCxnSpPr>
        <p:spPr>
          <a:xfrm rot="5400000">
            <a:off x="3160518" y="3289417"/>
            <a:ext cx="863125" cy="0"/>
          </a:xfrm>
          <a:prstGeom prst="straightConnector1">
            <a:avLst/>
          </a:prstGeom>
          <a:ln w="57150">
            <a:solidFill>
              <a:srgbClr val="FFC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79C4792-6C53-8C16-04C9-62467EEDDA67}"/>
              </a:ext>
            </a:extLst>
          </p:cNvPr>
          <p:cNvSpPr txBox="1"/>
          <p:nvPr/>
        </p:nvSpPr>
        <p:spPr>
          <a:xfrm>
            <a:off x="8896406" y="271017"/>
            <a:ext cx="3022329" cy="147732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Y/X/B/A</a:t>
            </a:r>
            <a:r>
              <a:rPr lang="en-US" dirty="0"/>
              <a:t>: </a:t>
            </a:r>
            <a:r>
              <a:rPr lang="en-US" dirty="0" err="1"/>
              <a:t>premendo</a:t>
            </a:r>
            <a:r>
              <a:rPr lang="en-US" dirty="0"/>
              <a:t> per 2 secondi </a:t>
            </a:r>
            <a:r>
              <a:rPr lang="en-US" dirty="0" err="1"/>
              <a:t>memorizza</a:t>
            </a:r>
            <a:r>
              <a:rPr lang="en-US" dirty="0"/>
              <a:t> la </a:t>
            </a:r>
            <a:r>
              <a:rPr lang="en-US" dirty="0" err="1"/>
              <a:t>posizione</a:t>
            </a:r>
            <a:r>
              <a:rPr lang="en-US" dirty="0"/>
              <a:t> </a:t>
            </a:r>
            <a:r>
              <a:rPr lang="en-US" dirty="0" err="1"/>
              <a:t>attuale</a:t>
            </a:r>
            <a:r>
              <a:rPr lang="en-US" dirty="0"/>
              <a:t>. </a:t>
            </a:r>
            <a:r>
              <a:rPr lang="en-US" dirty="0" err="1"/>
              <a:t>Premendo</a:t>
            </a:r>
            <a:r>
              <a:rPr lang="en-US" dirty="0"/>
              <a:t> di nuovo porta il braccio </a:t>
            </a:r>
            <a:r>
              <a:rPr lang="en-US" dirty="0" err="1"/>
              <a:t>alla</a:t>
            </a:r>
            <a:r>
              <a:rPr lang="en-US" dirty="0"/>
              <a:t> </a:t>
            </a:r>
            <a:r>
              <a:rPr lang="en-US" dirty="0" err="1"/>
              <a:t>posizione</a:t>
            </a:r>
            <a:r>
              <a:rPr lang="en-US" dirty="0"/>
              <a:t> </a:t>
            </a:r>
            <a:r>
              <a:rPr lang="en-US" dirty="0" err="1"/>
              <a:t>memorizzata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688E3A-90C8-54FA-DF97-4AC3E9B594E4}"/>
              </a:ext>
            </a:extLst>
          </p:cNvPr>
          <p:cNvSpPr txBox="1"/>
          <p:nvPr/>
        </p:nvSpPr>
        <p:spPr>
          <a:xfrm>
            <a:off x="7071639" y="6083163"/>
            <a:ext cx="1687706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Motore</a:t>
            </a:r>
            <a:r>
              <a:rPr lang="en-US" b="1" dirty="0"/>
              <a:t> 6</a:t>
            </a:r>
            <a:r>
              <a:rPr lang="en-US" dirty="0"/>
              <a:t>: </a:t>
            </a:r>
            <a:r>
              <a:rPr lang="en-US" dirty="0" err="1"/>
              <a:t>apri</a:t>
            </a:r>
            <a:r>
              <a:rPr lang="en-US" dirty="0"/>
              <a:t>/</a:t>
            </a:r>
          </a:p>
          <a:p>
            <a:r>
              <a:rPr lang="en-US" dirty="0" err="1"/>
              <a:t>chiudi</a:t>
            </a:r>
            <a:r>
              <a:rPr lang="en-US" dirty="0"/>
              <a:t> </a:t>
            </a:r>
            <a:r>
              <a:rPr lang="en-US" dirty="0" err="1"/>
              <a:t>pinza</a:t>
            </a:r>
            <a:endParaRPr lang="en-US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7D738EC-54D9-44CB-EC13-C64142E3F0F4}"/>
              </a:ext>
            </a:extLst>
          </p:cNvPr>
          <p:cNvCxnSpPr>
            <a:cxnSpLocks/>
          </p:cNvCxnSpPr>
          <p:nvPr/>
        </p:nvCxnSpPr>
        <p:spPr>
          <a:xfrm>
            <a:off x="6227480" y="4309309"/>
            <a:ext cx="863125" cy="0"/>
          </a:xfrm>
          <a:prstGeom prst="straightConnector1">
            <a:avLst/>
          </a:prstGeom>
          <a:ln w="57150">
            <a:solidFill>
              <a:srgbClr val="FFC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B18D40B-D773-D718-DF6A-02B704F94DB2}"/>
              </a:ext>
            </a:extLst>
          </p:cNvPr>
          <p:cNvCxnSpPr>
            <a:cxnSpLocks/>
            <a:stCxn id="42" idx="0"/>
          </p:cNvCxnSpPr>
          <p:nvPr/>
        </p:nvCxnSpPr>
        <p:spPr>
          <a:xfrm flipH="1" flipV="1">
            <a:off x="6810375" y="4629150"/>
            <a:ext cx="1105117" cy="145401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20ECCD0-74D5-86DB-B74A-59D22E50327A}"/>
              </a:ext>
            </a:extLst>
          </p:cNvPr>
          <p:cNvSpPr txBox="1"/>
          <p:nvPr/>
        </p:nvSpPr>
        <p:spPr>
          <a:xfrm>
            <a:off x="1278539" y="1136250"/>
            <a:ext cx="1519455" cy="646331"/>
          </a:xfrm>
          <a:prstGeom prst="rect">
            <a:avLst/>
          </a:prstGeom>
          <a:noFill/>
          <a:ln w="28575">
            <a:solidFill>
              <a:srgbClr val="47D45A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/>
              <a:t>Motore</a:t>
            </a:r>
            <a:r>
              <a:rPr lang="en-US" b="1" dirty="0"/>
              <a:t> 4</a:t>
            </a:r>
            <a:r>
              <a:rPr lang="en-US" dirty="0"/>
              <a:t>: </a:t>
            </a:r>
          </a:p>
          <a:p>
            <a:r>
              <a:rPr lang="en-US" dirty="0" err="1"/>
              <a:t>piega</a:t>
            </a:r>
            <a:r>
              <a:rPr lang="en-US" dirty="0"/>
              <a:t> braccio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9AAAA0F-0C6F-369C-05CC-6420DDA7B0C2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2038267" y="1782581"/>
            <a:ext cx="1189606" cy="1430258"/>
          </a:xfrm>
          <a:prstGeom prst="straightConnector1">
            <a:avLst/>
          </a:prstGeom>
          <a:ln w="19050">
            <a:solidFill>
              <a:srgbClr val="47D4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352553A-D0DA-C23B-7B2D-AD4BFF69C42A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1017284" y="5968708"/>
            <a:ext cx="658596" cy="44474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91CA3FE-92D3-F89A-5A4F-5AEC0099A715}"/>
              </a:ext>
            </a:extLst>
          </p:cNvPr>
          <p:cNvSpPr txBox="1"/>
          <p:nvPr/>
        </p:nvSpPr>
        <p:spPr>
          <a:xfrm>
            <a:off x="3879584" y="5330563"/>
            <a:ext cx="1519455" cy="64633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/>
              <a:t>Motore</a:t>
            </a:r>
            <a:r>
              <a:rPr lang="en-US" b="1" dirty="0"/>
              <a:t> 2</a:t>
            </a:r>
            <a:r>
              <a:rPr lang="en-US" dirty="0"/>
              <a:t>: </a:t>
            </a:r>
          </a:p>
          <a:p>
            <a:r>
              <a:rPr lang="en-US" dirty="0" err="1"/>
              <a:t>piega</a:t>
            </a:r>
            <a:r>
              <a:rPr lang="en-US" dirty="0"/>
              <a:t> braccio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67FFE3E-D5CB-F1D6-E6AC-687D1431D404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4639312" y="4740872"/>
            <a:ext cx="14149" cy="589691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D9BF354-4C9F-9C7D-940B-9ED110628076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771525" y="4988477"/>
            <a:ext cx="3108059" cy="665252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10A5369-4307-802C-EE90-AFD1B03FA3E4}"/>
              </a:ext>
            </a:extLst>
          </p:cNvPr>
          <p:cNvCxnSpPr>
            <a:cxnSpLocks/>
          </p:cNvCxnSpPr>
          <p:nvPr/>
        </p:nvCxnSpPr>
        <p:spPr>
          <a:xfrm rot="5400000">
            <a:off x="6248068" y="4328572"/>
            <a:ext cx="863125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2" name="TextBox 1031">
            <a:extLst>
              <a:ext uri="{FF2B5EF4-FFF2-40B4-BE49-F238E27FC236}">
                <a16:creationId xmlns:a16="http://schemas.microsoft.com/office/drawing/2014/main" id="{5F3897F2-5FD8-F3F7-25E7-0887E4011DCA}"/>
              </a:ext>
            </a:extLst>
          </p:cNvPr>
          <p:cNvSpPr txBox="1"/>
          <p:nvPr/>
        </p:nvSpPr>
        <p:spPr>
          <a:xfrm>
            <a:off x="9036553" y="5655613"/>
            <a:ext cx="1341586" cy="6463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/>
              <a:t>Motore</a:t>
            </a:r>
            <a:r>
              <a:rPr lang="en-US" b="1" dirty="0"/>
              <a:t> 5</a:t>
            </a:r>
            <a:r>
              <a:rPr lang="en-US" dirty="0"/>
              <a:t>:</a:t>
            </a:r>
          </a:p>
          <a:p>
            <a:r>
              <a:rPr lang="en-US" dirty="0" err="1"/>
              <a:t>ruota</a:t>
            </a:r>
            <a:r>
              <a:rPr lang="en-US" dirty="0"/>
              <a:t> </a:t>
            </a:r>
            <a:r>
              <a:rPr lang="en-US" dirty="0" err="1"/>
              <a:t>pinza</a:t>
            </a:r>
            <a:endParaRPr lang="en-US" dirty="0"/>
          </a:p>
        </p:txBody>
      </p: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B433DCBE-0FFD-3065-3D25-CBB5866B44AF}"/>
              </a:ext>
            </a:extLst>
          </p:cNvPr>
          <p:cNvCxnSpPr>
            <a:cxnSpLocks/>
            <a:stCxn id="1032" idx="0"/>
          </p:cNvCxnSpPr>
          <p:nvPr/>
        </p:nvCxnSpPr>
        <p:spPr>
          <a:xfrm flipH="1" flipV="1">
            <a:off x="7032905" y="4411466"/>
            <a:ext cx="2674441" cy="124414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067A10AC-2F4A-7386-81A1-71ED06ED3901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7224678" y="1009681"/>
            <a:ext cx="1671728" cy="2337869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4C0F1126-B3A6-4CA3-3D46-260757E60308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8392557" y="1009681"/>
            <a:ext cx="503849" cy="2216369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Arrow Connector 1066">
            <a:extLst>
              <a:ext uri="{FF2B5EF4-FFF2-40B4-BE49-F238E27FC236}">
                <a16:creationId xmlns:a16="http://schemas.microsoft.com/office/drawing/2014/main" id="{F97C0BE4-BF91-0CC5-B9A1-EB4A11F644C6}"/>
              </a:ext>
            </a:extLst>
          </p:cNvPr>
          <p:cNvCxnSpPr>
            <a:cxnSpLocks/>
            <a:stCxn id="58" idx="2"/>
          </p:cNvCxnSpPr>
          <p:nvPr/>
        </p:nvCxnSpPr>
        <p:spPr>
          <a:xfrm flipH="1">
            <a:off x="748793" y="1782581"/>
            <a:ext cx="1289474" cy="662256"/>
          </a:xfrm>
          <a:prstGeom prst="straightConnector1">
            <a:avLst/>
          </a:prstGeom>
          <a:ln w="19050">
            <a:solidFill>
              <a:srgbClr val="47D4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0" name="TextBox 1069">
            <a:extLst>
              <a:ext uri="{FF2B5EF4-FFF2-40B4-BE49-F238E27FC236}">
                <a16:creationId xmlns:a16="http://schemas.microsoft.com/office/drawing/2014/main" id="{EC439540-161C-E341-2A64-89ACCE28972E}"/>
              </a:ext>
            </a:extLst>
          </p:cNvPr>
          <p:cNvSpPr txBox="1"/>
          <p:nvPr/>
        </p:nvSpPr>
        <p:spPr>
          <a:xfrm>
            <a:off x="1136509" y="3057591"/>
            <a:ext cx="1186066" cy="92333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Motore</a:t>
            </a:r>
            <a:r>
              <a:rPr lang="en-US" b="1" dirty="0"/>
              <a:t> 3</a:t>
            </a:r>
            <a:r>
              <a:rPr lang="en-US" dirty="0"/>
              <a:t>: </a:t>
            </a:r>
          </a:p>
          <a:p>
            <a:r>
              <a:rPr lang="en-US" dirty="0" err="1"/>
              <a:t>piega</a:t>
            </a:r>
            <a:r>
              <a:rPr lang="en-US" dirty="0"/>
              <a:t> braccio</a:t>
            </a:r>
          </a:p>
        </p:txBody>
      </p:sp>
      <p:cxnSp>
        <p:nvCxnSpPr>
          <p:cNvPr id="1071" name="Straight Arrow Connector 1070">
            <a:extLst>
              <a:ext uri="{FF2B5EF4-FFF2-40B4-BE49-F238E27FC236}">
                <a16:creationId xmlns:a16="http://schemas.microsoft.com/office/drawing/2014/main" id="{8F67150C-481E-FA0C-66A8-8C4C8C4E6FFD}"/>
              </a:ext>
            </a:extLst>
          </p:cNvPr>
          <p:cNvCxnSpPr>
            <a:cxnSpLocks/>
            <a:stCxn id="1070" idx="3"/>
          </p:cNvCxnSpPr>
          <p:nvPr/>
        </p:nvCxnSpPr>
        <p:spPr>
          <a:xfrm>
            <a:off x="2322575" y="3519256"/>
            <a:ext cx="1178786" cy="113283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Straight Arrow Connector 1073">
            <a:extLst>
              <a:ext uri="{FF2B5EF4-FFF2-40B4-BE49-F238E27FC236}">
                <a16:creationId xmlns:a16="http://schemas.microsoft.com/office/drawing/2014/main" id="{2192BFC1-1214-222A-6E2A-0B110541121C}"/>
              </a:ext>
            </a:extLst>
          </p:cNvPr>
          <p:cNvCxnSpPr>
            <a:cxnSpLocks/>
            <a:stCxn id="1070" idx="1"/>
          </p:cNvCxnSpPr>
          <p:nvPr/>
        </p:nvCxnSpPr>
        <p:spPr>
          <a:xfrm flipH="1">
            <a:off x="748793" y="3519256"/>
            <a:ext cx="387716" cy="18702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93A3BB0-91DC-96F6-70C0-F75B81CF6167}"/>
              </a:ext>
            </a:extLst>
          </p:cNvPr>
          <p:cNvSpPr txBox="1"/>
          <p:nvPr/>
        </p:nvSpPr>
        <p:spPr>
          <a:xfrm>
            <a:off x="5047389" y="6090285"/>
            <a:ext cx="1747041" cy="646331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Blocca/</a:t>
            </a:r>
            <a:r>
              <a:rPr lang="en-US" dirty="0" err="1"/>
              <a:t>sblocca</a:t>
            </a:r>
            <a:r>
              <a:rPr lang="en-US" dirty="0"/>
              <a:t> braccio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00DC4F73-9150-8A76-7C32-2984F4CCC9EA}"/>
              </a:ext>
            </a:extLst>
          </p:cNvPr>
          <p:cNvCxnSpPr>
            <a:cxnSpLocks/>
            <a:stCxn id="1032" idx="0"/>
          </p:cNvCxnSpPr>
          <p:nvPr/>
        </p:nvCxnSpPr>
        <p:spPr>
          <a:xfrm rot="16200000" flipV="1">
            <a:off x="3343121" y="-708613"/>
            <a:ext cx="3792630" cy="8935821"/>
          </a:xfrm>
          <a:prstGeom prst="bent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7B32022-BE15-C20D-C16A-B82DB147324B}"/>
              </a:ext>
            </a:extLst>
          </p:cNvPr>
          <p:cNvCxnSpPr>
            <a:cxnSpLocks/>
            <a:stCxn id="42" idx="0"/>
          </p:cNvCxnSpPr>
          <p:nvPr/>
        </p:nvCxnSpPr>
        <p:spPr>
          <a:xfrm rot="16200000" flipV="1">
            <a:off x="1848036" y="15707"/>
            <a:ext cx="5006393" cy="712852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9D3D04D-5022-1413-C8E4-3B10FDFF2BA1}"/>
              </a:ext>
            </a:extLst>
          </p:cNvPr>
          <p:cNvCxnSpPr>
            <a:cxnSpLocks/>
            <a:stCxn id="56" idx="0"/>
          </p:cNvCxnSpPr>
          <p:nvPr/>
        </p:nvCxnSpPr>
        <p:spPr>
          <a:xfrm flipV="1">
            <a:off x="5920910" y="3290136"/>
            <a:ext cx="223317" cy="2800149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BFD660C-756E-F6AA-ED34-807C367921DF}"/>
              </a:ext>
            </a:extLst>
          </p:cNvPr>
          <p:cNvSpPr txBox="1"/>
          <p:nvPr/>
        </p:nvSpPr>
        <p:spPr>
          <a:xfrm>
            <a:off x="1590675" y="0"/>
            <a:ext cx="71381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noProof="0" dirty="0"/>
              <a:t>Modalità controllato da utente (Braccio FK)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69460FB-3F28-8ED5-7E73-7D898ED48F2F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7608094" y="1009681"/>
            <a:ext cx="1288312" cy="161135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D6C8F29-E21F-944C-1206-12BD988B658F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7691215" y="1009681"/>
            <a:ext cx="1205191" cy="262227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4F3A350-D53F-17D6-2B10-7264F5DD512A}"/>
              </a:ext>
            </a:extLst>
          </p:cNvPr>
          <p:cNvSpPr txBox="1"/>
          <p:nvPr/>
        </p:nvSpPr>
        <p:spPr>
          <a:xfrm>
            <a:off x="9790468" y="2017888"/>
            <a:ext cx="2357391" cy="1754326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Posizioni</a:t>
            </a:r>
            <a:r>
              <a:rPr lang="en-US" dirty="0"/>
              <a:t> </a:t>
            </a:r>
            <a:r>
              <a:rPr lang="en-US" dirty="0" err="1"/>
              <a:t>preregistrate</a:t>
            </a:r>
            <a:r>
              <a:rPr lang="en-US" dirty="0"/>
              <a:t> (</a:t>
            </a:r>
            <a:r>
              <a:rPr lang="en-US" dirty="0" err="1"/>
              <a:t>sovrascrivibili</a:t>
            </a:r>
            <a:r>
              <a:rPr lang="en-US" dirty="0"/>
              <a:t>):</a:t>
            </a:r>
          </a:p>
          <a:p>
            <a:r>
              <a:rPr lang="en-US" dirty="0"/>
              <a:t>- </a:t>
            </a:r>
            <a:r>
              <a:rPr lang="en-US" b="1" dirty="0"/>
              <a:t>A</a:t>
            </a:r>
            <a:r>
              <a:rPr lang="en-US" dirty="0"/>
              <a:t>: </a:t>
            </a:r>
            <a:r>
              <a:rPr lang="en-US" dirty="0" err="1"/>
              <a:t>verticale</a:t>
            </a:r>
            <a:endParaRPr lang="en-US" dirty="0"/>
          </a:p>
          <a:p>
            <a:r>
              <a:rPr lang="en-US" dirty="0"/>
              <a:t>- </a:t>
            </a:r>
            <a:r>
              <a:rPr lang="en-US" b="1" dirty="0"/>
              <a:t>B</a:t>
            </a:r>
            <a:r>
              <a:rPr lang="en-US" dirty="0"/>
              <a:t>: </a:t>
            </a:r>
            <a:r>
              <a:rPr lang="en-US" dirty="0" err="1"/>
              <a:t>ripiegato</a:t>
            </a:r>
            <a:endParaRPr lang="en-US" dirty="0"/>
          </a:p>
          <a:p>
            <a:r>
              <a:rPr lang="en-US" dirty="0"/>
              <a:t>- </a:t>
            </a:r>
            <a:r>
              <a:rPr lang="en-US" b="1" dirty="0"/>
              <a:t>X</a:t>
            </a:r>
            <a:r>
              <a:rPr lang="en-US" dirty="0"/>
              <a:t>: in avanti</a:t>
            </a:r>
          </a:p>
          <a:p>
            <a:r>
              <a:rPr lang="en-US" dirty="0"/>
              <a:t>- </a:t>
            </a:r>
            <a:r>
              <a:rPr lang="en-US" b="1" dirty="0"/>
              <a:t>Y</a:t>
            </a:r>
            <a:r>
              <a:rPr lang="en-US" dirty="0"/>
              <a:t>: libero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6C7D58-5C97-F092-F981-53D98FAD6866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0969163" y="1748345"/>
            <a:ext cx="1" cy="269543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012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2BBA3-CBA3-ADEC-6317-8062AF955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g">
            <a:extLst>
              <a:ext uri="{FF2B5EF4-FFF2-40B4-BE49-F238E27FC236}">
                <a16:creationId xmlns:a16="http://schemas.microsoft.com/office/drawing/2014/main" id="{2D3F85E6-0466-9F07-B5C3-CCFA829966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71" t="22324" r="129" b="50389"/>
          <a:stretch/>
        </p:blipFill>
        <p:spPr bwMode="auto">
          <a:xfrm rot="16200000">
            <a:off x="-262236" y="674668"/>
            <a:ext cx="1842732" cy="130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OSTENT Cablato Analogico Controller Gamepad Joystick Joypad per Sony  Playstation PS2 PS1 PS One PSX Console Dual Shock Vibration Video Games :  ...">
            <a:extLst>
              <a:ext uri="{FF2B5EF4-FFF2-40B4-BE49-F238E27FC236}">
                <a16:creationId xmlns:a16="http://schemas.microsoft.com/office/drawing/2014/main" id="{53CDE7B3-035A-41A0-A6A2-DB5DD6B678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8" b="29584"/>
          <a:stretch/>
        </p:blipFill>
        <p:spPr bwMode="auto">
          <a:xfrm>
            <a:off x="2190750" y="1680553"/>
            <a:ext cx="6858000" cy="428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FF10FFB-C8BA-3CDC-4A2D-7243AAF0B465}"/>
              </a:ext>
            </a:extLst>
          </p:cNvPr>
          <p:cNvCxnSpPr>
            <a:cxnSpLocks/>
          </p:cNvCxnSpPr>
          <p:nvPr/>
        </p:nvCxnSpPr>
        <p:spPr>
          <a:xfrm>
            <a:off x="4166075" y="4309309"/>
            <a:ext cx="863125" cy="0"/>
          </a:xfrm>
          <a:prstGeom prst="straightConnector1">
            <a:avLst/>
          </a:prstGeom>
          <a:ln w="57150">
            <a:solidFill>
              <a:srgbClr val="00B0F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C17003F-81D7-2C12-24B8-FD20561EB9B1}"/>
              </a:ext>
            </a:extLst>
          </p:cNvPr>
          <p:cNvCxnSpPr>
            <a:cxnSpLocks/>
          </p:cNvCxnSpPr>
          <p:nvPr/>
        </p:nvCxnSpPr>
        <p:spPr>
          <a:xfrm rot="5400000">
            <a:off x="4166074" y="4309309"/>
            <a:ext cx="863125" cy="0"/>
          </a:xfrm>
          <a:prstGeom prst="straightConnector1">
            <a:avLst/>
          </a:prstGeom>
          <a:ln w="57150">
            <a:solidFill>
              <a:srgbClr val="47D45A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E7A7BA8-FD42-7F7F-C5E9-809B2F4B4942}"/>
              </a:ext>
            </a:extLst>
          </p:cNvPr>
          <p:cNvCxnSpPr>
            <a:cxnSpLocks/>
          </p:cNvCxnSpPr>
          <p:nvPr/>
        </p:nvCxnSpPr>
        <p:spPr>
          <a:xfrm rot="5400000">
            <a:off x="3160518" y="3289417"/>
            <a:ext cx="863125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4D44EF0-A39D-8558-C2A4-40B0248CFE4F}"/>
              </a:ext>
            </a:extLst>
          </p:cNvPr>
          <p:cNvSpPr txBox="1"/>
          <p:nvPr/>
        </p:nvSpPr>
        <p:spPr>
          <a:xfrm>
            <a:off x="8896406" y="271017"/>
            <a:ext cx="3022329" cy="1477328"/>
          </a:xfrm>
          <a:prstGeom prst="rect">
            <a:avLst/>
          </a:prstGeom>
          <a:noFill/>
          <a:ln w="28575">
            <a:solidFill>
              <a:srgbClr val="47D45A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Y/X/B/A</a:t>
            </a:r>
            <a:r>
              <a:rPr lang="en-US" dirty="0"/>
              <a:t>: </a:t>
            </a:r>
            <a:r>
              <a:rPr lang="en-US" dirty="0" err="1"/>
              <a:t>premendo</a:t>
            </a:r>
            <a:r>
              <a:rPr lang="en-US" dirty="0"/>
              <a:t> per 2 secondi </a:t>
            </a:r>
            <a:r>
              <a:rPr lang="en-US" dirty="0" err="1"/>
              <a:t>memorizza</a:t>
            </a:r>
            <a:r>
              <a:rPr lang="en-US" dirty="0"/>
              <a:t> la </a:t>
            </a:r>
            <a:r>
              <a:rPr lang="en-US" dirty="0" err="1"/>
              <a:t>posizione</a:t>
            </a:r>
            <a:r>
              <a:rPr lang="en-US" dirty="0"/>
              <a:t> </a:t>
            </a:r>
            <a:r>
              <a:rPr lang="en-US" dirty="0" err="1"/>
              <a:t>attuale</a:t>
            </a:r>
            <a:r>
              <a:rPr lang="en-US" dirty="0"/>
              <a:t>. </a:t>
            </a:r>
            <a:r>
              <a:rPr lang="en-US" dirty="0" err="1"/>
              <a:t>Premendo</a:t>
            </a:r>
            <a:r>
              <a:rPr lang="en-US" dirty="0"/>
              <a:t> di nuovo porta il braccio </a:t>
            </a:r>
            <a:r>
              <a:rPr lang="en-US" dirty="0" err="1"/>
              <a:t>alla</a:t>
            </a:r>
            <a:r>
              <a:rPr lang="en-US" dirty="0"/>
              <a:t> </a:t>
            </a:r>
            <a:r>
              <a:rPr lang="en-US" dirty="0" err="1"/>
              <a:t>posizione</a:t>
            </a:r>
            <a:r>
              <a:rPr lang="en-US" dirty="0"/>
              <a:t> </a:t>
            </a:r>
            <a:r>
              <a:rPr lang="en-US" dirty="0" err="1"/>
              <a:t>memorizzata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A96061-C019-4CE4-5BC4-92A34C7753E3}"/>
              </a:ext>
            </a:extLst>
          </p:cNvPr>
          <p:cNvSpPr txBox="1"/>
          <p:nvPr/>
        </p:nvSpPr>
        <p:spPr>
          <a:xfrm>
            <a:off x="6808158" y="6083163"/>
            <a:ext cx="2021088" cy="6463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Motori 1-4</a:t>
            </a:r>
            <a:r>
              <a:rPr lang="en-US" dirty="0"/>
              <a:t>: </a:t>
            </a:r>
            <a:r>
              <a:rPr lang="en-US" dirty="0" err="1"/>
              <a:t>M</a:t>
            </a:r>
            <a:r>
              <a:rPr lang="en-US" baseline="-25000" dirty="0" err="1"/>
              <a:t>z</a:t>
            </a:r>
            <a:r>
              <a:rPr lang="en-US" dirty="0"/>
              <a:t> (</a:t>
            </a:r>
            <a:r>
              <a:rPr lang="en-US" dirty="0" err="1"/>
              <a:t>coordinata</a:t>
            </a:r>
            <a:r>
              <a:rPr lang="en-US" dirty="0"/>
              <a:t> z di M)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4FC8714-EDA9-FC9C-B52D-413CDB14DAD0}"/>
              </a:ext>
            </a:extLst>
          </p:cNvPr>
          <p:cNvCxnSpPr>
            <a:cxnSpLocks/>
          </p:cNvCxnSpPr>
          <p:nvPr/>
        </p:nvCxnSpPr>
        <p:spPr>
          <a:xfrm>
            <a:off x="6227480" y="4309309"/>
            <a:ext cx="863125" cy="0"/>
          </a:xfrm>
          <a:prstGeom prst="straightConnector1">
            <a:avLst/>
          </a:prstGeom>
          <a:ln w="57150">
            <a:solidFill>
              <a:srgbClr val="00B0F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2BE756D-0B24-41CA-3622-ED4FAE5074A4}"/>
              </a:ext>
            </a:extLst>
          </p:cNvPr>
          <p:cNvCxnSpPr>
            <a:cxnSpLocks/>
            <a:stCxn id="42" idx="0"/>
          </p:cNvCxnSpPr>
          <p:nvPr/>
        </p:nvCxnSpPr>
        <p:spPr>
          <a:xfrm flipH="1" flipV="1">
            <a:off x="6810375" y="4629150"/>
            <a:ext cx="1008327" cy="1454013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6D1DEDA-E5C4-CA54-3DA2-CB74F5A58390}"/>
              </a:ext>
            </a:extLst>
          </p:cNvPr>
          <p:cNvCxnSpPr>
            <a:cxnSpLocks/>
          </p:cNvCxnSpPr>
          <p:nvPr/>
        </p:nvCxnSpPr>
        <p:spPr>
          <a:xfrm rot="5400000">
            <a:off x="6248068" y="4328572"/>
            <a:ext cx="863125" cy="0"/>
          </a:xfrm>
          <a:prstGeom prst="straightConnector1">
            <a:avLst/>
          </a:prstGeom>
          <a:ln w="57150">
            <a:solidFill>
              <a:srgbClr val="FFC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2" name="TextBox 1031">
            <a:extLst>
              <a:ext uri="{FF2B5EF4-FFF2-40B4-BE49-F238E27FC236}">
                <a16:creationId xmlns:a16="http://schemas.microsoft.com/office/drawing/2014/main" id="{5787B67C-E84D-F198-D728-61C374EEABD4}"/>
              </a:ext>
            </a:extLst>
          </p:cNvPr>
          <p:cNvSpPr txBox="1"/>
          <p:nvPr/>
        </p:nvSpPr>
        <p:spPr>
          <a:xfrm>
            <a:off x="9036553" y="5655613"/>
            <a:ext cx="1341586" cy="64633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 err="1"/>
              <a:t>Motore</a:t>
            </a:r>
            <a:r>
              <a:rPr lang="en-US" b="1" dirty="0"/>
              <a:t> 5</a:t>
            </a:r>
            <a:r>
              <a:rPr lang="en-US" dirty="0"/>
              <a:t>:</a:t>
            </a:r>
          </a:p>
          <a:p>
            <a:r>
              <a:rPr lang="en-US" dirty="0" err="1"/>
              <a:t>ruota</a:t>
            </a:r>
            <a:r>
              <a:rPr lang="en-US" dirty="0"/>
              <a:t> </a:t>
            </a:r>
            <a:r>
              <a:rPr lang="en-US" dirty="0" err="1"/>
              <a:t>pinza</a:t>
            </a:r>
            <a:endParaRPr lang="en-US" dirty="0"/>
          </a:p>
        </p:txBody>
      </p:sp>
      <p:cxnSp>
        <p:nvCxnSpPr>
          <p:cNvPr id="1037" name="Straight Arrow Connector 1036">
            <a:extLst>
              <a:ext uri="{FF2B5EF4-FFF2-40B4-BE49-F238E27FC236}">
                <a16:creationId xmlns:a16="http://schemas.microsoft.com/office/drawing/2014/main" id="{E7EEBB02-9E28-0179-687D-994B24576DBE}"/>
              </a:ext>
            </a:extLst>
          </p:cNvPr>
          <p:cNvCxnSpPr>
            <a:cxnSpLocks/>
            <a:stCxn id="1032" idx="0"/>
          </p:cNvCxnSpPr>
          <p:nvPr/>
        </p:nvCxnSpPr>
        <p:spPr>
          <a:xfrm flipH="1" flipV="1">
            <a:off x="7032905" y="4411466"/>
            <a:ext cx="2674441" cy="124414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7018E026-B2AF-2A76-0B78-E95630ED4E3B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7224678" y="1009681"/>
            <a:ext cx="1671728" cy="2337869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F93DCBCC-F7F4-559F-68E3-900C763437A1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8392557" y="1009681"/>
            <a:ext cx="503849" cy="2216369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94B25EE-1E59-E636-E859-86BCF00D0C46}"/>
              </a:ext>
            </a:extLst>
          </p:cNvPr>
          <p:cNvSpPr txBox="1"/>
          <p:nvPr/>
        </p:nvSpPr>
        <p:spPr>
          <a:xfrm>
            <a:off x="4782212" y="5191711"/>
            <a:ext cx="1747041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Blocca/</a:t>
            </a:r>
            <a:r>
              <a:rPr lang="en-US" dirty="0" err="1"/>
              <a:t>sblocca</a:t>
            </a:r>
            <a:r>
              <a:rPr lang="en-US" dirty="0"/>
              <a:t> braccio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B8F6BDA8-0275-BAFE-031C-8A994397F9B5}"/>
              </a:ext>
            </a:extLst>
          </p:cNvPr>
          <p:cNvCxnSpPr>
            <a:cxnSpLocks/>
            <a:stCxn id="1032" idx="0"/>
          </p:cNvCxnSpPr>
          <p:nvPr/>
        </p:nvCxnSpPr>
        <p:spPr>
          <a:xfrm rot="16200000" flipV="1">
            <a:off x="3343121" y="-708613"/>
            <a:ext cx="3792630" cy="8935821"/>
          </a:xfrm>
          <a:prstGeom prst="bent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1F86EE1-898D-44BE-33CB-CFABA368AD27}"/>
              </a:ext>
            </a:extLst>
          </p:cNvPr>
          <p:cNvCxnSpPr>
            <a:cxnSpLocks/>
            <a:stCxn id="56" idx="0"/>
          </p:cNvCxnSpPr>
          <p:nvPr/>
        </p:nvCxnSpPr>
        <p:spPr>
          <a:xfrm flipV="1">
            <a:off x="5655733" y="3347550"/>
            <a:ext cx="459874" cy="184416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40AF30A9-817B-6F95-F133-81290A2EDF86}"/>
              </a:ext>
            </a:extLst>
          </p:cNvPr>
          <p:cNvSpPr txBox="1"/>
          <p:nvPr/>
        </p:nvSpPr>
        <p:spPr>
          <a:xfrm>
            <a:off x="1590675" y="0"/>
            <a:ext cx="71381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noProof="0" dirty="0"/>
              <a:t>Modalità controllato da utente (Braccio IK)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6942EF1-455E-1ECE-7340-61B43055460A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7608094" y="1009681"/>
            <a:ext cx="1288312" cy="1611357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75BE492-376D-B9D6-113F-C9F4CA0295C5}"/>
              </a:ext>
            </a:extLst>
          </p:cNvPr>
          <p:cNvCxnSpPr>
            <a:cxnSpLocks/>
            <a:stCxn id="39" idx="1"/>
          </p:cNvCxnSpPr>
          <p:nvPr/>
        </p:nvCxnSpPr>
        <p:spPr>
          <a:xfrm flipH="1">
            <a:off x="7691215" y="1009681"/>
            <a:ext cx="1205191" cy="2622270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52316EE-999A-ACA8-3D97-0D9DD01EC41F}"/>
              </a:ext>
            </a:extLst>
          </p:cNvPr>
          <p:cNvSpPr txBox="1"/>
          <p:nvPr/>
        </p:nvSpPr>
        <p:spPr>
          <a:xfrm>
            <a:off x="9790468" y="2017888"/>
            <a:ext cx="2357391" cy="1754326"/>
          </a:xfrm>
          <a:prstGeom prst="rect">
            <a:avLst/>
          </a:prstGeom>
          <a:noFill/>
          <a:ln w="28575">
            <a:solidFill>
              <a:srgbClr val="47D45A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Posizioni</a:t>
            </a:r>
            <a:r>
              <a:rPr lang="en-US" dirty="0"/>
              <a:t> </a:t>
            </a:r>
            <a:r>
              <a:rPr lang="en-US" dirty="0" err="1"/>
              <a:t>preregistrate</a:t>
            </a:r>
            <a:r>
              <a:rPr lang="en-US" dirty="0"/>
              <a:t> (</a:t>
            </a:r>
            <a:r>
              <a:rPr lang="en-US" dirty="0" err="1"/>
              <a:t>sovrascrivibili</a:t>
            </a:r>
            <a:r>
              <a:rPr lang="en-US" dirty="0"/>
              <a:t>):</a:t>
            </a:r>
          </a:p>
          <a:p>
            <a:r>
              <a:rPr lang="en-US" dirty="0"/>
              <a:t>- </a:t>
            </a:r>
            <a:r>
              <a:rPr lang="en-US" b="1" dirty="0"/>
              <a:t>A</a:t>
            </a:r>
            <a:r>
              <a:rPr lang="en-US" dirty="0"/>
              <a:t>: </a:t>
            </a:r>
            <a:r>
              <a:rPr lang="en-US" dirty="0" err="1"/>
              <a:t>verticale</a:t>
            </a:r>
            <a:endParaRPr lang="en-US" dirty="0"/>
          </a:p>
          <a:p>
            <a:r>
              <a:rPr lang="en-US" dirty="0"/>
              <a:t>- </a:t>
            </a:r>
            <a:r>
              <a:rPr lang="en-US" b="1" dirty="0"/>
              <a:t>B</a:t>
            </a:r>
            <a:r>
              <a:rPr lang="en-US" dirty="0"/>
              <a:t>: </a:t>
            </a:r>
            <a:r>
              <a:rPr lang="en-US" dirty="0" err="1"/>
              <a:t>ripiegato</a:t>
            </a:r>
            <a:endParaRPr lang="en-US" dirty="0"/>
          </a:p>
          <a:p>
            <a:r>
              <a:rPr lang="en-US" dirty="0"/>
              <a:t>- </a:t>
            </a:r>
            <a:r>
              <a:rPr lang="en-US" b="1" dirty="0"/>
              <a:t>X</a:t>
            </a:r>
            <a:r>
              <a:rPr lang="en-US" dirty="0"/>
              <a:t>: in avanti</a:t>
            </a:r>
          </a:p>
          <a:p>
            <a:r>
              <a:rPr lang="en-US" dirty="0"/>
              <a:t>- </a:t>
            </a:r>
            <a:r>
              <a:rPr lang="en-US" b="1" dirty="0"/>
              <a:t>Y</a:t>
            </a:r>
            <a:r>
              <a:rPr lang="en-US" dirty="0"/>
              <a:t>: libero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D30BF5-7D37-FC63-9C77-A80EDED8CF2C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0969163" y="1748345"/>
            <a:ext cx="1" cy="269543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">
            <a:extLst>
              <a:ext uri="{FF2B5EF4-FFF2-40B4-BE49-F238E27FC236}">
                <a16:creationId xmlns:a16="http://schemas.microsoft.com/office/drawing/2014/main" id="{CA2D232C-0AFB-F76E-4787-B65819FF56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" t="7630" r="3374" b="5046"/>
          <a:stretch/>
        </p:blipFill>
        <p:spPr bwMode="auto">
          <a:xfrm>
            <a:off x="8651" y="2573385"/>
            <a:ext cx="2341126" cy="2013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32225CD-6D66-31B9-08CA-77ADA17CD7FD}"/>
              </a:ext>
            </a:extLst>
          </p:cNvPr>
          <p:cNvSpPr txBox="1"/>
          <p:nvPr/>
        </p:nvSpPr>
        <p:spPr>
          <a:xfrm>
            <a:off x="1435371" y="6083163"/>
            <a:ext cx="2021089" cy="64633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Motori 1-4</a:t>
            </a:r>
            <a:r>
              <a:rPr lang="en-US" dirty="0"/>
              <a:t>: M</a:t>
            </a:r>
            <a:r>
              <a:rPr lang="en-US" baseline="-25000" dirty="0"/>
              <a:t>x</a:t>
            </a:r>
            <a:r>
              <a:rPr lang="en-US" dirty="0"/>
              <a:t> (</a:t>
            </a:r>
            <a:r>
              <a:rPr lang="en-US" dirty="0" err="1"/>
              <a:t>coordinata</a:t>
            </a:r>
            <a:r>
              <a:rPr lang="en-US" dirty="0"/>
              <a:t> x di M)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09DA354-154E-7096-C703-FB1D6DFA4E80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2445916" y="4411466"/>
            <a:ext cx="1789896" cy="167169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8B644E9-8AD6-0EC6-0CAB-6AB6ED58644B}"/>
              </a:ext>
            </a:extLst>
          </p:cNvPr>
          <p:cNvSpPr txBox="1"/>
          <p:nvPr/>
        </p:nvSpPr>
        <p:spPr>
          <a:xfrm>
            <a:off x="3717724" y="6118659"/>
            <a:ext cx="2021089" cy="646331"/>
          </a:xfrm>
          <a:prstGeom prst="rect">
            <a:avLst/>
          </a:prstGeom>
          <a:noFill/>
          <a:ln w="28575">
            <a:solidFill>
              <a:srgbClr val="47D45A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Motori 1-4</a:t>
            </a:r>
            <a:r>
              <a:rPr lang="en-US" dirty="0"/>
              <a:t>: M</a:t>
            </a:r>
            <a:r>
              <a:rPr lang="en-US" baseline="-25000" dirty="0"/>
              <a:t>y</a:t>
            </a:r>
            <a:r>
              <a:rPr lang="en-US" dirty="0"/>
              <a:t> (</a:t>
            </a:r>
            <a:r>
              <a:rPr lang="en-US" dirty="0" err="1"/>
              <a:t>coordinata</a:t>
            </a:r>
            <a:r>
              <a:rPr lang="en-US" dirty="0"/>
              <a:t> y di M)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DD8639C-1AFE-DCC1-3E52-9359EAFEE57E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4609628" y="4793361"/>
            <a:ext cx="118641" cy="1325298"/>
          </a:xfrm>
          <a:prstGeom prst="straightConnector1">
            <a:avLst/>
          </a:prstGeom>
          <a:ln w="19050">
            <a:solidFill>
              <a:srgbClr val="47D4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F29321D-1A8A-2519-A6E5-C16358C61329}"/>
              </a:ext>
            </a:extLst>
          </p:cNvPr>
          <p:cNvCxnSpPr>
            <a:cxnSpLocks/>
            <a:stCxn id="22" idx="0"/>
          </p:cNvCxnSpPr>
          <p:nvPr/>
        </p:nvCxnSpPr>
        <p:spPr>
          <a:xfrm flipH="1" flipV="1">
            <a:off x="1768305" y="3618273"/>
            <a:ext cx="677611" cy="246489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78A030D-5004-23FE-F969-DBD4B2EB5F1E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831153" y="3850481"/>
            <a:ext cx="3897116" cy="2268178"/>
          </a:xfrm>
          <a:prstGeom prst="straightConnector1">
            <a:avLst/>
          </a:prstGeom>
          <a:ln w="19050">
            <a:solidFill>
              <a:srgbClr val="47D45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ctor: Elbow 1032">
            <a:extLst>
              <a:ext uri="{FF2B5EF4-FFF2-40B4-BE49-F238E27FC236}">
                <a16:creationId xmlns:a16="http://schemas.microsoft.com/office/drawing/2014/main" id="{46F1EFCE-52C4-167A-DDF7-B317C19DD8F2}"/>
              </a:ext>
            </a:extLst>
          </p:cNvPr>
          <p:cNvCxnSpPr>
            <a:cxnSpLocks/>
            <a:stCxn id="42" idx="0"/>
          </p:cNvCxnSpPr>
          <p:nvPr/>
        </p:nvCxnSpPr>
        <p:spPr>
          <a:xfrm rot="16200000" flipV="1">
            <a:off x="4002986" y="2267447"/>
            <a:ext cx="77650" cy="7553782"/>
          </a:xfrm>
          <a:prstGeom prst="bentConnector2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Connector: Elbow 1051">
            <a:extLst>
              <a:ext uri="{FF2B5EF4-FFF2-40B4-BE49-F238E27FC236}">
                <a16:creationId xmlns:a16="http://schemas.microsoft.com/office/drawing/2014/main" id="{0F9A0EE5-67BC-ECB5-9CD8-56A3F5D740C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-790273" y="4088909"/>
            <a:ext cx="2981324" cy="870934"/>
          </a:xfrm>
          <a:prstGeom prst="bentConnector3">
            <a:avLst>
              <a:gd name="adj1" fmla="val 100000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Arrow Connector 1061">
            <a:extLst>
              <a:ext uri="{FF2B5EF4-FFF2-40B4-BE49-F238E27FC236}">
                <a16:creationId xmlns:a16="http://schemas.microsoft.com/office/drawing/2014/main" id="{79F90042-ACDB-A056-9CC8-0592987F0D5F}"/>
              </a:ext>
            </a:extLst>
          </p:cNvPr>
          <p:cNvCxnSpPr>
            <a:cxnSpLocks/>
            <a:stCxn id="1065" idx="2"/>
          </p:cNvCxnSpPr>
          <p:nvPr/>
        </p:nvCxnSpPr>
        <p:spPr>
          <a:xfrm>
            <a:off x="2858276" y="1357235"/>
            <a:ext cx="653745" cy="153781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5" name="TextBox 1064">
            <a:extLst>
              <a:ext uri="{FF2B5EF4-FFF2-40B4-BE49-F238E27FC236}">
                <a16:creationId xmlns:a16="http://schemas.microsoft.com/office/drawing/2014/main" id="{3210896E-688D-D3DA-F884-3B989D558F0E}"/>
              </a:ext>
            </a:extLst>
          </p:cNvPr>
          <p:cNvSpPr txBox="1"/>
          <p:nvPr/>
        </p:nvSpPr>
        <p:spPr>
          <a:xfrm>
            <a:off x="2014423" y="710904"/>
            <a:ext cx="1687706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Motore</a:t>
            </a:r>
            <a:r>
              <a:rPr lang="en-US" b="1" dirty="0"/>
              <a:t> 6</a:t>
            </a:r>
            <a:r>
              <a:rPr lang="en-US" dirty="0"/>
              <a:t>: </a:t>
            </a:r>
            <a:r>
              <a:rPr lang="en-US" dirty="0" err="1"/>
              <a:t>apri</a:t>
            </a:r>
            <a:r>
              <a:rPr lang="en-US" dirty="0"/>
              <a:t>/</a:t>
            </a:r>
          </a:p>
          <a:p>
            <a:r>
              <a:rPr lang="en-US" dirty="0" err="1"/>
              <a:t>chiudi</a:t>
            </a:r>
            <a:r>
              <a:rPr lang="en-US" dirty="0"/>
              <a:t> </a:t>
            </a:r>
            <a:r>
              <a:rPr lang="en-US" dirty="0" err="1"/>
              <a:t>pinza</a:t>
            </a:r>
            <a:endParaRPr lang="en-US" dirty="0"/>
          </a:p>
        </p:txBody>
      </p:sp>
      <p:cxnSp>
        <p:nvCxnSpPr>
          <p:cNvPr id="1068" name="Straight Arrow Connector 1067">
            <a:extLst>
              <a:ext uri="{FF2B5EF4-FFF2-40B4-BE49-F238E27FC236}">
                <a16:creationId xmlns:a16="http://schemas.microsoft.com/office/drawing/2014/main" id="{85F8A089-499D-F8CE-D980-95B3FF02CA9F}"/>
              </a:ext>
            </a:extLst>
          </p:cNvPr>
          <p:cNvCxnSpPr>
            <a:cxnSpLocks/>
            <a:stCxn id="1065" idx="1"/>
          </p:cNvCxnSpPr>
          <p:nvPr/>
        </p:nvCxnSpPr>
        <p:spPr>
          <a:xfrm flipH="1">
            <a:off x="785643" y="1034070"/>
            <a:ext cx="1228780" cy="8800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3" name="TextBox 1072">
            <a:extLst>
              <a:ext uri="{FF2B5EF4-FFF2-40B4-BE49-F238E27FC236}">
                <a16:creationId xmlns:a16="http://schemas.microsoft.com/office/drawing/2014/main" id="{08054C0F-CB8A-6EC0-9715-65EDAF3EF3CD}"/>
              </a:ext>
            </a:extLst>
          </p:cNvPr>
          <p:cNvSpPr txBox="1"/>
          <p:nvPr/>
        </p:nvSpPr>
        <p:spPr>
          <a:xfrm>
            <a:off x="405993" y="4823498"/>
            <a:ext cx="1583546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M</a:t>
            </a:r>
            <a:r>
              <a:rPr lang="en-US" dirty="0"/>
              <a:t>: </a:t>
            </a:r>
            <a:r>
              <a:rPr lang="en-US" dirty="0" err="1"/>
              <a:t>posizione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pinza</a:t>
            </a:r>
            <a:r>
              <a:rPr lang="en-US" dirty="0"/>
              <a:t> </a:t>
            </a:r>
            <a:r>
              <a:rPr lang="en-US" dirty="0" err="1"/>
              <a:t>nello</a:t>
            </a:r>
            <a:r>
              <a:rPr lang="en-US" dirty="0"/>
              <a:t> </a:t>
            </a:r>
            <a:r>
              <a:rPr lang="en-US" dirty="0" err="1"/>
              <a:t>spazio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293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71604-9C8B-1832-52E1-78F9D7678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STENT Cablato Analogico Controller Gamepad Joystick Joypad per Sony  Playstation PS2 PS1 PS One PSX Console Dual Shock Vibration Video Games :  ...">
            <a:extLst>
              <a:ext uri="{FF2B5EF4-FFF2-40B4-BE49-F238E27FC236}">
                <a16:creationId xmlns:a16="http://schemas.microsoft.com/office/drawing/2014/main" id="{60FB0B32-B3CD-2598-2E31-46E2E1A0DC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8" b="29584"/>
          <a:stretch/>
        </p:blipFill>
        <p:spPr bwMode="auto">
          <a:xfrm>
            <a:off x="2190750" y="1680553"/>
            <a:ext cx="6858000" cy="428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C5B583-D980-1F71-77D7-F11E34BEEBBB}"/>
              </a:ext>
            </a:extLst>
          </p:cNvPr>
          <p:cNvSpPr txBox="1"/>
          <p:nvPr/>
        </p:nvSpPr>
        <p:spPr>
          <a:xfrm>
            <a:off x="1590675" y="0"/>
            <a:ext cx="10401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noProof="0" dirty="0"/>
              <a:t>Modalità autonoma - visione (agente cerca oggetto specificato)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9B0CC-FCBF-D024-B2AE-180519E85F22}"/>
              </a:ext>
            </a:extLst>
          </p:cNvPr>
          <p:cNvSpPr txBox="1"/>
          <p:nvPr/>
        </p:nvSpPr>
        <p:spPr>
          <a:xfrm>
            <a:off x="157874" y="1804099"/>
            <a:ext cx="2000228" cy="17543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Cambia </a:t>
            </a:r>
            <a:r>
              <a:rPr lang="en-US" dirty="0" err="1"/>
              <a:t>bersaglio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Arancia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Telecomando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Gatto</a:t>
            </a:r>
          </a:p>
          <a:p>
            <a:r>
              <a:rPr lang="en-US" dirty="0"/>
              <a:t>(</a:t>
            </a:r>
            <a:r>
              <a:rPr lang="en-US" dirty="0" err="1"/>
              <a:t>elenco</a:t>
            </a:r>
            <a:r>
              <a:rPr lang="en-US" dirty="0"/>
              <a:t> </a:t>
            </a:r>
            <a:r>
              <a:rPr lang="en-US" dirty="0" err="1"/>
              <a:t>circolare</a:t>
            </a:r>
            <a:r>
              <a:rPr lang="en-US" dirty="0"/>
              <a:t>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B59E714-BB15-BDFB-57D4-E0D7707CA663}"/>
              </a:ext>
            </a:extLst>
          </p:cNvPr>
          <p:cNvCxnSpPr>
            <a:cxnSpLocks/>
          </p:cNvCxnSpPr>
          <p:nvPr/>
        </p:nvCxnSpPr>
        <p:spPr>
          <a:xfrm>
            <a:off x="3170489" y="3290136"/>
            <a:ext cx="863125" cy="0"/>
          </a:xfrm>
          <a:prstGeom prst="straightConnector1">
            <a:avLst/>
          </a:prstGeom>
          <a:ln w="571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B48FC0-1C9F-C8B6-667B-6E157761EC2F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500197" y="3632539"/>
            <a:ext cx="1001773" cy="2090767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3636D43-C815-6F69-D67B-2790D04004CA}"/>
              </a:ext>
            </a:extLst>
          </p:cNvPr>
          <p:cNvCxnSpPr>
            <a:cxnSpLocks/>
          </p:cNvCxnSpPr>
          <p:nvPr/>
        </p:nvCxnSpPr>
        <p:spPr>
          <a:xfrm rot="5400000">
            <a:off x="3160518" y="3289417"/>
            <a:ext cx="863125" cy="0"/>
          </a:xfrm>
          <a:prstGeom prst="straightConnector1">
            <a:avLst/>
          </a:prstGeom>
          <a:ln w="57150">
            <a:solidFill>
              <a:srgbClr val="FFC000"/>
            </a:solidFill>
            <a:prstDash val="sysDot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30955A3-E568-EFE8-5A96-87634CBFC5BF}"/>
              </a:ext>
            </a:extLst>
          </p:cNvPr>
          <p:cNvSpPr txBox="1"/>
          <p:nvPr/>
        </p:nvSpPr>
        <p:spPr>
          <a:xfrm>
            <a:off x="9497483" y="5784042"/>
            <a:ext cx="1699504" cy="36933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Clacson</a:t>
            </a:r>
            <a:r>
              <a:rPr lang="en-US" dirty="0"/>
              <a:t> (beep)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32BF08D-812F-FE36-D4DB-83B46146ECA3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7862131" y="3965253"/>
            <a:ext cx="2485104" cy="1818789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79E6042-63CE-4900-83A6-CED1556AD6B0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7799464" y="2194700"/>
            <a:ext cx="1907882" cy="534658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F640FE2-7F9F-441B-4B60-505A3DA0E5B2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2158102" y="2681262"/>
            <a:ext cx="1080754" cy="48922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D0D6A44-F5D1-2D8D-D1B0-22F5B1467837}"/>
              </a:ext>
            </a:extLst>
          </p:cNvPr>
          <p:cNvSpPr txBox="1"/>
          <p:nvPr/>
        </p:nvSpPr>
        <p:spPr>
          <a:xfrm>
            <a:off x="122880" y="4846143"/>
            <a:ext cx="2377317" cy="175432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Cambia rete </a:t>
            </a:r>
            <a:r>
              <a:rPr lang="en-US" dirty="0" err="1"/>
              <a:t>neurale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YOLO 11 small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YOLO 11 small TPU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YOLO 11 med TPU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YOLO 11 big TPU</a:t>
            </a:r>
          </a:p>
          <a:p>
            <a:r>
              <a:rPr lang="en-US" dirty="0"/>
              <a:t>(</a:t>
            </a:r>
            <a:r>
              <a:rPr lang="en-US" dirty="0" err="1"/>
              <a:t>elenco</a:t>
            </a:r>
            <a:r>
              <a:rPr lang="en-US" dirty="0"/>
              <a:t> </a:t>
            </a:r>
            <a:r>
              <a:rPr lang="en-US" dirty="0" err="1"/>
              <a:t>circolare</a:t>
            </a:r>
            <a:r>
              <a:rPr lang="en-US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FFD542-92FA-C823-7135-603DB109C715}"/>
              </a:ext>
            </a:extLst>
          </p:cNvPr>
          <p:cNvSpPr txBox="1"/>
          <p:nvPr/>
        </p:nvSpPr>
        <p:spPr>
          <a:xfrm>
            <a:off x="9707346" y="1871534"/>
            <a:ext cx="1592632" cy="646331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Luci interne</a:t>
            </a:r>
          </a:p>
          <a:p>
            <a:r>
              <a:rPr lang="en-US" dirty="0"/>
              <a:t>(cicla pattern)</a:t>
            </a:r>
          </a:p>
        </p:txBody>
      </p:sp>
    </p:spTree>
    <p:extLst>
      <p:ext uri="{BB962C8B-B14F-4D97-AF65-F5344CB8AC3E}">
        <p14:creationId xmlns:p14="http://schemas.microsoft.com/office/powerpoint/2010/main" val="1101613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47909-D1AA-CE6F-4AA8-9BD8E8B81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STENT Cablato Analogico Controller Gamepad Joystick Joypad per Sony  Playstation PS2 PS1 PS One PSX Console Dual Shock Vibration Video Games :  ...">
            <a:extLst>
              <a:ext uri="{FF2B5EF4-FFF2-40B4-BE49-F238E27FC236}">
                <a16:creationId xmlns:a16="http://schemas.microsoft.com/office/drawing/2014/main" id="{40E357D9-E406-7B11-9A91-66BE67FDBA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8" b="29584"/>
          <a:stretch/>
        </p:blipFill>
        <p:spPr bwMode="auto">
          <a:xfrm>
            <a:off x="2190750" y="1680553"/>
            <a:ext cx="6858000" cy="4288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9F4B5F-F86E-A85A-A4BC-1DCE3544697B}"/>
              </a:ext>
            </a:extLst>
          </p:cNvPr>
          <p:cNvSpPr txBox="1"/>
          <p:nvPr/>
        </p:nvSpPr>
        <p:spPr>
          <a:xfrm>
            <a:off x="1590675" y="0"/>
            <a:ext cx="96960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noProof="0" dirty="0"/>
              <a:t>Modalità autonoma - suono (agente si muove verso i suoni)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90E083-1888-8B1F-B8CD-EA2AD1A9D31E}"/>
              </a:ext>
            </a:extLst>
          </p:cNvPr>
          <p:cNvSpPr txBox="1"/>
          <p:nvPr/>
        </p:nvSpPr>
        <p:spPr>
          <a:xfrm>
            <a:off x="9497483" y="5784042"/>
            <a:ext cx="1699504" cy="369332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Clacson</a:t>
            </a:r>
            <a:r>
              <a:rPr lang="en-US" dirty="0"/>
              <a:t> (beep)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B36C8F3-7996-2471-8782-48348ECBF8B9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7862131" y="3965253"/>
            <a:ext cx="2485104" cy="1818789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67767F0-109E-420E-2656-84AD2DAD3649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7799464" y="2194700"/>
            <a:ext cx="1907882" cy="534658"/>
          </a:xfrm>
          <a:prstGeom prst="straightConnector1">
            <a:avLst/>
          </a:prstGeom>
          <a:ln w="19050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2FCE96E-5340-B8D7-41B2-5351D4334866}"/>
              </a:ext>
            </a:extLst>
          </p:cNvPr>
          <p:cNvSpPr txBox="1"/>
          <p:nvPr/>
        </p:nvSpPr>
        <p:spPr>
          <a:xfrm>
            <a:off x="9707346" y="1871534"/>
            <a:ext cx="1592632" cy="646331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Luci interne</a:t>
            </a:r>
          </a:p>
          <a:p>
            <a:r>
              <a:rPr lang="en-US" dirty="0"/>
              <a:t>(cicla pattern)</a:t>
            </a:r>
          </a:p>
        </p:txBody>
      </p:sp>
    </p:spTree>
    <p:extLst>
      <p:ext uri="{BB962C8B-B14F-4D97-AF65-F5344CB8AC3E}">
        <p14:creationId xmlns:p14="http://schemas.microsoft.com/office/powerpoint/2010/main" val="2065117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383</Words>
  <Application>Microsoft Office PowerPoint</Application>
  <PresentationFormat>Widescreen</PresentationFormat>
  <Paragraphs>81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CONCIATORI</dc:creator>
  <cp:lastModifiedBy>Marco CONCIATORI</cp:lastModifiedBy>
  <cp:revision>16</cp:revision>
  <dcterms:created xsi:type="dcterms:W3CDTF">2025-04-12T23:11:29Z</dcterms:created>
  <dcterms:modified xsi:type="dcterms:W3CDTF">2025-05-24T17:14:54Z</dcterms:modified>
</cp:coreProperties>
</file>